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9" r:id="rId9"/>
    <p:sldId id="258" r:id="rId8"/>
    <p:sldId id="262" r:id="rId12"/>
    <p:sldId id="263" r:id="rId13"/>
    <p:sldId id="260" r:id="rId10"/>
    <p:sldId id="265" r:id="rId15"/>
    <p:sldId id="267" r:id="rId21"/>
    <p:sldId id="264" r:id="rId14"/>
    <p:sldId id="266" r:id="rId16"/>
  </p:sldIdLst>
  <p:sldSz cx="18288000" cy="10287000"/>
  <p:notesSz cx="6858000" cy="9144000"/>
  <p:embeddedFontLst>
    <p:embeddedFont>
      <p:font typeface="Eastman Condensed Bold" charset="1" panose="00000806000000000000"/>
      <p:regular r:id="rId17"/>
    </p:embeddedFont>
    <p:embeddedFont>
      <p:font typeface="Sarabun Bold" charset="1" panose="00000800000000000000"/>
      <p:regular r:id="rId18"/>
    </p:embeddedFont>
    <p:embeddedFont>
      <p:font typeface="Sarabun" charset="1" panose="00000500000000000000"/>
      <p:regular r:id="rId19"/>
    </p:embeddedFont>
    <p:embeddedFont>
      <p:font typeface="Sarabun Semi-Bold" charset="1" panose="000007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<Relationship Id="rId21" Type="http://schemas.openxmlformats.org/officeDocument/2006/relationships/slide" Target="slides/slide12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3C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6980756" y="5684708"/>
            <a:ext cx="19514493" cy="7147183"/>
          </a:xfrm>
          <a:custGeom>
            <a:avLst/>
            <a:gdLst/>
            <a:ahLst/>
            <a:cxnLst/>
            <a:rect r="r" b="b" t="t" l="l"/>
            <a:pathLst>
              <a:path h="7147183" w="19514493">
                <a:moveTo>
                  <a:pt x="19514493" y="0"/>
                </a:moveTo>
                <a:lnTo>
                  <a:pt x="0" y="0"/>
                </a:lnTo>
                <a:lnTo>
                  <a:pt x="0" y="7147184"/>
                </a:lnTo>
                <a:lnTo>
                  <a:pt x="19514493" y="7147184"/>
                </a:lnTo>
                <a:lnTo>
                  <a:pt x="195144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3676643"/>
            <a:ext cx="11445151" cy="5581657"/>
            <a:chOff x="0" y="0"/>
            <a:chExt cx="15260201" cy="744220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04800"/>
              <a:ext cx="15260201" cy="5928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800"/>
                </a:lnSpc>
              </a:pPr>
              <a:r>
                <a:rPr lang="en-US" sz="9000" spc="-167" b="true">
                  <a:solidFill>
                    <a:srgbClr val="FFFFFF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Smart</a:t>
              </a:r>
            </a:p>
            <a:p>
              <a:pPr algn="l">
                <a:lnSpc>
                  <a:spcPts val="9800"/>
                </a:lnSpc>
              </a:pPr>
              <a:r>
                <a:rPr lang="en-US" sz="9000" spc="-167" b="true">
                  <a:solidFill>
                    <a:srgbClr val="70E6E3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Recruitment</a:t>
              </a:r>
            </a:p>
            <a:p>
              <a:pPr algn="l">
                <a:lnSpc>
                  <a:spcPts val="9800"/>
                </a:lnSpc>
              </a:pPr>
              <a:r>
                <a:rPr lang="en-US" sz="9000" spc="-167" b="true">
                  <a:solidFill>
                    <a:srgbClr val="FFFFFF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Assistant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282499"/>
              <a:ext cx="14119352" cy="795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Predicting Candidate Job-Change Likelihood with XGBoost</a:t>
              </a:r>
            </a:p>
          </p:txBody>
        </p:sp>
        <p:sp>
          <p:nvSpPr>
            <p:cNvPr name="AutoShape 6" id="6"/>
            <p:cNvSpPr/>
            <p:nvPr/>
          </p:nvSpPr>
          <p:spPr>
            <a:xfrm flipV="true">
              <a:off x="0" y="8250000"/>
              <a:ext cx="7059676" cy="0"/>
            </a:xfrm>
            <a:prstGeom prst="line">
              <a:avLst/>
            </a:prstGeom>
            <a:ln cap="flat" w="127000">
              <a:solidFill>
                <a:srgbClr val="70E6E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290202" cy="1085996"/>
            <a:chOff x="0" y="0"/>
            <a:chExt cx="4386935" cy="14479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8532" cy="1447995"/>
            </a:xfrm>
            <a:custGeom>
              <a:avLst/>
              <a:gdLst/>
              <a:ahLst/>
              <a:cxnLst/>
              <a:rect r="r" b="b" t="t" l="l"/>
              <a:pathLst>
                <a:path h="1447995" w="1168532">
                  <a:moveTo>
                    <a:pt x="0" y="0"/>
                  </a:moveTo>
                  <a:lnTo>
                    <a:pt x="1168532" y="0"/>
                  </a:lnTo>
                  <a:lnTo>
                    <a:pt x="1168532" y="1447995"/>
                  </a:lnTo>
                  <a:lnTo>
                    <a:pt x="0" y="1447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536498" y="12847"/>
              <a:ext cx="4200000" cy="14223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8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HR ANALYTICS CO.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0">
            <a:off x="9666103" y="2471534"/>
            <a:ext cx="19638696" cy="11856863"/>
          </a:xfrm>
          <a:custGeom>
            <a:avLst/>
            <a:gdLst/>
            <a:ahLst/>
            <a:cxnLst/>
            <a:rect r="r" b="b" t="t" l="l"/>
            <a:pathLst>
              <a:path h="11856863" w="19638696">
                <a:moveTo>
                  <a:pt x="0" y="11856863"/>
                </a:moveTo>
                <a:lnTo>
                  <a:pt x="19638697" y="11856863"/>
                </a:lnTo>
                <a:lnTo>
                  <a:pt x="19638697" y="0"/>
                </a:lnTo>
                <a:lnTo>
                  <a:pt x="0" y="0"/>
                </a:lnTo>
                <a:lnTo>
                  <a:pt x="0" y="118568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15716250" y="-1848140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0E6E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2140599">
            <a:off x="-1964196" y="676485"/>
            <a:ext cx="9238924" cy="15430353"/>
          </a:xfrm>
          <a:custGeom>
            <a:avLst/>
            <a:gdLst/>
            <a:ahLst/>
            <a:cxnLst/>
            <a:rect r="r" b="b" t="t" l="l"/>
            <a:pathLst>
              <a:path h="15430353" w="9238924">
                <a:moveTo>
                  <a:pt x="0" y="15430353"/>
                </a:moveTo>
                <a:lnTo>
                  <a:pt x="9238923" y="15430353"/>
                </a:lnTo>
                <a:lnTo>
                  <a:pt x="9238923" y="0"/>
                </a:lnTo>
                <a:lnTo>
                  <a:pt x="0" y="0"/>
                </a:lnTo>
                <a:lnTo>
                  <a:pt x="0" y="154303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91184" y="8735894"/>
            <a:ext cx="3616756" cy="36167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0E6E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48048" y="1223684"/>
            <a:ext cx="5011252" cy="1236506"/>
            <a:chOff x="0" y="0"/>
            <a:chExt cx="6681669" cy="16486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6681669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Application overload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81570"/>
              <a:ext cx="668166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Modern organizations receive far more applications than recruiters can screen.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68016" y="1223684"/>
            <a:ext cx="1348940" cy="1352376"/>
            <a:chOff x="0" y="0"/>
            <a:chExt cx="349062" cy="3499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9062" cy="349951"/>
            </a:xfrm>
            <a:custGeom>
              <a:avLst/>
              <a:gdLst/>
              <a:ahLst/>
              <a:cxnLst/>
              <a:rect r="r" b="b" t="t" l="l"/>
              <a:pathLst>
                <a:path h="349951" w="349062">
                  <a:moveTo>
                    <a:pt x="143482" y="0"/>
                  </a:moveTo>
                  <a:lnTo>
                    <a:pt x="205581" y="0"/>
                  </a:lnTo>
                  <a:cubicBezTo>
                    <a:pt x="284823" y="0"/>
                    <a:pt x="349062" y="64239"/>
                    <a:pt x="349062" y="143482"/>
                  </a:cubicBezTo>
                  <a:lnTo>
                    <a:pt x="349062" y="206470"/>
                  </a:lnTo>
                  <a:cubicBezTo>
                    <a:pt x="349062" y="285712"/>
                    <a:pt x="284823" y="349951"/>
                    <a:pt x="205581" y="349951"/>
                  </a:cubicBezTo>
                  <a:lnTo>
                    <a:pt x="143482" y="349951"/>
                  </a:lnTo>
                  <a:cubicBezTo>
                    <a:pt x="64239" y="349951"/>
                    <a:pt x="0" y="285712"/>
                    <a:pt x="0" y="206470"/>
                  </a:cubicBezTo>
                  <a:lnTo>
                    <a:pt x="0" y="143482"/>
                  </a:lnTo>
                  <a:cubicBezTo>
                    <a:pt x="0" y="64239"/>
                    <a:pt x="64239" y="0"/>
                    <a:pt x="143482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349062" cy="435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b="true" sz="4199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48048" y="4593771"/>
            <a:ext cx="5011252" cy="1236506"/>
            <a:chOff x="0" y="0"/>
            <a:chExt cx="6681669" cy="16486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6681669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AI-assisted screening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81570"/>
              <a:ext cx="668166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HR departments rely on data-driven systems to identify suitable candidates.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68016" y="4593771"/>
            <a:ext cx="1348940" cy="1352376"/>
            <a:chOff x="0" y="0"/>
            <a:chExt cx="349062" cy="349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9062" cy="349951"/>
            </a:xfrm>
            <a:custGeom>
              <a:avLst/>
              <a:gdLst/>
              <a:ahLst/>
              <a:cxnLst/>
              <a:rect r="r" b="b" t="t" l="l"/>
              <a:pathLst>
                <a:path h="349951" w="349062">
                  <a:moveTo>
                    <a:pt x="143482" y="0"/>
                  </a:moveTo>
                  <a:lnTo>
                    <a:pt x="205581" y="0"/>
                  </a:lnTo>
                  <a:cubicBezTo>
                    <a:pt x="284823" y="0"/>
                    <a:pt x="349062" y="64239"/>
                    <a:pt x="349062" y="143482"/>
                  </a:cubicBezTo>
                  <a:lnTo>
                    <a:pt x="349062" y="206470"/>
                  </a:lnTo>
                  <a:cubicBezTo>
                    <a:pt x="349062" y="285712"/>
                    <a:pt x="284823" y="349951"/>
                    <a:pt x="205581" y="349951"/>
                  </a:cubicBezTo>
                  <a:lnTo>
                    <a:pt x="143482" y="349951"/>
                  </a:lnTo>
                  <a:cubicBezTo>
                    <a:pt x="64239" y="349951"/>
                    <a:pt x="0" y="285712"/>
                    <a:pt x="0" y="206470"/>
                  </a:cubicBezTo>
                  <a:lnTo>
                    <a:pt x="0" y="143482"/>
                  </a:lnTo>
                  <a:cubicBezTo>
                    <a:pt x="0" y="64239"/>
                    <a:pt x="64239" y="0"/>
                    <a:pt x="143482" y="0"/>
                  </a:cubicBezTo>
                  <a:close/>
                </a:path>
              </a:pathLst>
            </a:custGeom>
            <a:solidFill>
              <a:srgbClr val="E27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349062" cy="435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8048" y="7963858"/>
            <a:ext cx="5011252" cy="1236506"/>
            <a:chOff x="0" y="0"/>
            <a:chExt cx="6681669" cy="164867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0"/>
              <a:ext cx="6681669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Our objective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81570"/>
              <a:ext cx="668166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Predict whether a candidate is looking to change jobs, so recruiters can prioritize outreach.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68016" y="7963858"/>
            <a:ext cx="1348940" cy="1352376"/>
            <a:chOff x="0" y="0"/>
            <a:chExt cx="349062" cy="3499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9062" cy="349951"/>
            </a:xfrm>
            <a:custGeom>
              <a:avLst/>
              <a:gdLst/>
              <a:ahLst/>
              <a:cxnLst/>
              <a:rect r="r" b="b" t="t" l="l"/>
              <a:pathLst>
                <a:path h="349951" w="349062">
                  <a:moveTo>
                    <a:pt x="143482" y="0"/>
                  </a:moveTo>
                  <a:lnTo>
                    <a:pt x="205581" y="0"/>
                  </a:lnTo>
                  <a:cubicBezTo>
                    <a:pt x="284823" y="0"/>
                    <a:pt x="349062" y="64239"/>
                    <a:pt x="349062" y="143482"/>
                  </a:cubicBezTo>
                  <a:lnTo>
                    <a:pt x="349062" y="206470"/>
                  </a:lnTo>
                  <a:cubicBezTo>
                    <a:pt x="349062" y="285712"/>
                    <a:pt x="284823" y="349951"/>
                    <a:pt x="205581" y="349951"/>
                  </a:cubicBezTo>
                  <a:lnTo>
                    <a:pt x="143482" y="349951"/>
                  </a:lnTo>
                  <a:cubicBezTo>
                    <a:pt x="64239" y="349951"/>
                    <a:pt x="0" y="285712"/>
                    <a:pt x="0" y="206470"/>
                  </a:cubicBezTo>
                  <a:lnTo>
                    <a:pt x="0" y="143482"/>
                  </a:lnTo>
                  <a:cubicBezTo>
                    <a:pt x="0" y="64239"/>
                    <a:pt x="64239" y="0"/>
                    <a:pt x="143482" y="0"/>
                  </a:cubicBezTo>
                  <a:close/>
                </a:path>
              </a:pathLst>
            </a:custGeom>
            <a:solidFill>
              <a:srgbClr val="5A3C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349062" cy="435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879"/>
                </a:lnSpc>
                <a:spcBef>
                  <a:spcPct val="0"/>
                </a:spcBef>
              </a:pPr>
              <a:r>
                <a:rPr lang="en-US" b="true" sz="4199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1028700"/>
            <a:ext cx="7723969" cy="4203745"/>
            <a:chOff x="0" y="0"/>
            <a:chExt cx="10298626" cy="5604994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76200"/>
              <a:ext cx="10298626" cy="3349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79"/>
                </a:lnSpc>
              </a:pPr>
              <a:r>
                <a:rPr lang="en-US" sz="8799" b="true">
                  <a:solidFill>
                    <a:srgbClr val="5A3CAD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The</a:t>
              </a:r>
            </a:p>
            <a:p>
              <a:pPr algn="l" marL="0" indent="0" lvl="0">
                <a:lnSpc>
                  <a:spcPts val="9679"/>
                </a:lnSpc>
              </a:pPr>
              <a:r>
                <a:rPr lang="en-US" b="true" sz="8799">
                  <a:solidFill>
                    <a:srgbClr val="5A3CAD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Problem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661471"/>
              <a:ext cx="10298626" cy="194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Recruiters face an impossible volume.</a:t>
              </a:r>
              <a:r>
                <a:rPr lang="en-US" sz="280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 AI-assisted screening helps identify the right candidates faster.</a:t>
              </a:r>
              <a:r>
                <a:rPr lang="en-US" sz="2800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26846">
            <a:off x="-375538" y="-3005735"/>
            <a:ext cx="21693159" cy="11551607"/>
          </a:xfrm>
          <a:custGeom>
            <a:avLst/>
            <a:gdLst/>
            <a:ahLst/>
            <a:cxnLst/>
            <a:rect r="r" b="b" t="t" l="l"/>
            <a:pathLst>
              <a:path h="11551607" w="21693159">
                <a:moveTo>
                  <a:pt x="0" y="0"/>
                </a:moveTo>
                <a:lnTo>
                  <a:pt x="21693159" y="0"/>
                </a:lnTo>
                <a:lnTo>
                  <a:pt x="21693159" y="11551607"/>
                </a:lnTo>
                <a:lnTo>
                  <a:pt x="0" y="11551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26846">
            <a:off x="16463605" y="-464215"/>
            <a:ext cx="21693159" cy="11551607"/>
          </a:xfrm>
          <a:custGeom>
            <a:avLst/>
            <a:gdLst/>
            <a:ahLst/>
            <a:cxnLst/>
            <a:rect r="r" b="b" t="t" l="l"/>
            <a:pathLst>
              <a:path h="11551607" w="21693159">
                <a:moveTo>
                  <a:pt x="0" y="0"/>
                </a:moveTo>
                <a:lnTo>
                  <a:pt x="21693159" y="0"/>
                </a:lnTo>
                <a:lnTo>
                  <a:pt x="21693159" y="11551607"/>
                </a:lnTo>
                <a:lnTo>
                  <a:pt x="0" y="11551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55466" y="1104900"/>
            <a:ext cx="11777068" cy="126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9"/>
              </a:lnSpc>
              <a:spcBef>
                <a:spcPct val="0"/>
              </a:spcBef>
            </a:pPr>
            <a:r>
              <a:rPr lang="en-US" b="true" sz="8799" strike="noStrike" u="none">
                <a:solidFill>
                  <a:srgbClr val="5A3CAD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Team</a:t>
            </a:r>
          </a:p>
        </p:txBody>
      </p:sp>
      <p:grpSp>
        <p:nvGrpSpPr>
          <p:cNvPr name="CardBG501" id="501"/>
          <p:cNvGrpSpPr/>
          <p:nvPr/>
        </p:nvGrpSpPr>
        <p:grpSpPr>
          <a:xfrm rot="0">
            <a:off x="1028700" y="3100000"/>
            <a:ext cx="5076866" cy="2993500"/>
            <a:chOff x="0" y="0"/>
            <a:chExt cx="1305500" cy="1616222"/>
          </a:xfrm>
        </p:grpSpPr>
        <p:sp>
          <p:nvSpPr>
            <p:cNvPr name="CardBGShape502" id="502"/>
            <p:cNvSpPr/>
            <p:nvPr/>
          </p:nvSpPr>
          <p:spPr>
            <a:xfrm flipH="false" flipV="false" rot="0">
              <a:off x="0" y="0"/>
              <a:ext cx="1305500" cy="1616222"/>
            </a:xfrm>
            <a:custGeom>
              <a:avLst/>
              <a:gdLst/>
              <a:ahLst/>
              <a:cxnLst/>
              <a:rect r="r" b="b" t="t" l="l"/>
              <a:pathLst>
                <a:path h="1616222" w="1305500">
                  <a:moveTo>
                    <a:pt x="39047" y="0"/>
                  </a:moveTo>
                  <a:lnTo>
                    <a:pt x="1266454" y="0"/>
                  </a:lnTo>
                  <a:cubicBezTo>
                    <a:pt x="1288019" y="0"/>
                    <a:pt x="1305500" y="17482"/>
                    <a:pt x="1305500" y="39047"/>
                  </a:cubicBezTo>
                  <a:lnTo>
                    <a:pt x="1305500" y="1577175"/>
                  </a:lnTo>
                  <a:cubicBezTo>
                    <a:pt x="1305500" y="1598740"/>
                    <a:pt x="1288019" y="1616222"/>
                    <a:pt x="1266454" y="1616222"/>
                  </a:cubicBezTo>
                  <a:lnTo>
                    <a:pt x="39047" y="1616222"/>
                  </a:lnTo>
                  <a:cubicBezTo>
                    <a:pt x="17482" y="1616222"/>
                    <a:pt x="0" y="1598740"/>
                    <a:pt x="0" y="1577175"/>
                  </a:cubicBezTo>
                  <a:lnTo>
                    <a:pt x="0" y="39047"/>
                  </a:lnTo>
                  <a:cubicBezTo>
                    <a:pt x="0" y="17482"/>
                    <a:pt x="17482" y="0"/>
                    <a:pt x="39047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CardBGSpacer503" id="503"/>
            <p:cNvSpPr txBox="true"/>
            <p:nvPr/>
          </p:nvSpPr>
          <p:spPr>
            <a:xfrm>
              <a:off x="0" y="-47625"/>
              <a:ext cx="1305500" cy="1663847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CardTxt504" id="504"/>
          <p:cNvGrpSpPr/>
          <p:nvPr/>
        </p:nvGrpSpPr>
        <p:grpSpPr>
          <a:xfrm rot="0">
            <a:off x="1378700" y="3450000"/>
            <a:ext cx="4376866" cy="2293500"/>
            <a:chOff x="0" y="0"/>
            <a:chExt cx="5248566" cy="3971238"/>
          </a:xfrm>
        </p:grpSpPr>
        <p:sp>
          <p:nvSpPr>
            <p:cNvPr name="CardName505" id="505"/>
            <p:cNvSpPr txBox="true"/>
            <p:nvPr/>
          </p:nvSpPr>
          <p:spPr>
            <a:xfrm rot="0">
              <a:off x="0" y="2050000"/>
              <a:ext cx="5248566" cy="19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Jana Medhat Mostafa Ahmed</a:t>
              </a:r>
            </a:p>
          </p:txBody>
        </p:sp>
        <p:sp>
          <p:nvSpPr>
            <p:cNvPr name="CardDescUnused506" id="506"/>
            <p:cNvSpPr txBox="true"/>
            <p:nvPr/>
          </p:nvSpPr>
          <p:spPr>
            <a:xfrm rot="0">
              <a:off x="0" y="2508833"/>
              <a:ext cx="524856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  <p:sp>
          <p:nvSpPr>
            <p:cNvPr name="CardNumber507" id="507"/>
            <p:cNvSpPr txBox="true"/>
            <p:nvPr/>
          </p:nvSpPr>
          <p:spPr>
            <a:xfrm rot="0">
              <a:off x="0" y="76200"/>
              <a:ext cx="5248566" cy="1710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79"/>
                </a:lnSpc>
                <a:spcBef>
                  <a:spcPct val="0"/>
                </a:spcBef>
              </a:pPr>
              <a:r>
                <a:rPr lang="en-US" b="true" sz="6200" strike="noStrike" u="none">
                  <a:solidFill>
                    <a:srgbClr val="E27EFF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01</a:t>
              </a:r>
            </a:p>
          </p:txBody>
        </p:sp>
      </p:grpSp>
      <p:grpSp>
        <p:nvGrpSpPr>
          <p:cNvPr name="CardBG508" id="508"/>
          <p:cNvGrpSpPr/>
          <p:nvPr/>
        </p:nvGrpSpPr>
        <p:grpSpPr>
          <a:xfrm rot="0">
            <a:off x="6605566" y="3100000"/>
            <a:ext cx="5076866" cy="2993500"/>
            <a:chOff x="0" y="0"/>
            <a:chExt cx="1305500" cy="1616222"/>
          </a:xfrm>
        </p:grpSpPr>
        <p:sp>
          <p:nvSpPr>
            <p:cNvPr name="CardBGShape509" id="509"/>
            <p:cNvSpPr/>
            <p:nvPr/>
          </p:nvSpPr>
          <p:spPr>
            <a:xfrm flipH="false" flipV="false" rot="0">
              <a:off x="0" y="0"/>
              <a:ext cx="1305500" cy="1616222"/>
            </a:xfrm>
            <a:custGeom>
              <a:avLst/>
              <a:gdLst/>
              <a:ahLst/>
              <a:cxnLst/>
              <a:rect r="r" b="b" t="t" l="l"/>
              <a:pathLst>
                <a:path h="1616222" w="1305500">
                  <a:moveTo>
                    <a:pt x="39047" y="0"/>
                  </a:moveTo>
                  <a:lnTo>
                    <a:pt x="1266454" y="0"/>
                  </a:lnTo>
                  <a:cubicBezTo>
                    <a:pt x="1288019" y="0"/>
                    <a:pt x="1305500" y="17482"/>
                    <a:pt x="1305500" y="39047"/>
                  </a:cubicBezTo>
                  <a:lnTo>
                    <a:pt x="1305500" y="1577175"/>
                  </a:lnTo>
                  <a:cubicBezTo>
                    <a:pt x="1305500" y="1598740"/>
                    <a:pt x="1288019" y="1616222"/>
                    <a:pt x="1266454" y="1616222"/>
                  </a:cubicBezTo>
                  <a:lnTo>
                    <a:pt x="39047" y="1616222"/>
                  </a:lnTo>
                  <a:cubicBezTo>
                    <a:pt x="17482" y="1616222"/>
                    <a:pt x="0" y="1598740"/>
                    <a:pt x="0" y="1577175"/>
                  </a:cubicBezTo>
                  <a:lnTo>
                    <a:pt x="0" y="39047"/>
                  </a:lnTo>
                  <a:cubicBezTo>
                    <a:pt x="0" y="17482"/>
                    <a:pt x="17482" y="0"/>
                    <a:pt x="39047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CardBGSpacer510" id="510"/>
            <p:cNvSpPr txBox="true"/>
            <p:nvPr/>
          </p:nvSpPr>
          <p:spPr>
            <a:xfrm>
              <a:off x="0" y="-47625"/>
              <a:ext cx="1305500" cy="1663847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CardTxt511" id="511"/>
          <p:cNvGrpSpPr/>
          <p:nvPr/>
        </p:nvGrpSpPr>
        <p:grpSpPr>
          <a:xfrm rot="0">
            <a:off x="6955566" y="3450000"/>
            <a:ext cx="4376866" cy="2293500"/>
            <a:chOff x="0" y="0"/>
            <a:chExt cx="5248566" cy="3971238"/>
          </a:xfrm>
        </p:grpSpPr>
        <p:sp>
          <p:nvSpPr>
            <p:cNvPr name="CardName512" id="512"/>
            <p:cNvSpPr txBox="true"/>
            <p:nvPr/>
          </p:nvSpPr>
          <p:spPr>
            <a:xfrm rot="0">
              <a:off x="0" y="2050000"/>
              <a:ext cx="5248566" cy="19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Menna Nabil Mohamed Nazmy</a:t>
              </a:r>
            </a:p>
          </p:txBody>
        </p:sp>
        <p:sp>
          <p:nvSpPr>
            <p:cNvPr name="CardDescUnused513" id="513"/>
            <p:cNvSpPr txBox="true"/>
            <p:nvPr/>
          </p:nvSpPr>
          <p:spPr>
            <a:xfrm rot="0">
              <a:off x="0" y="2508833"/>
              <a:ext cx="524856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  <p:sp>
          <p:nvSpPr>
            <p:cNvPr name="CardNumber514" id="514"/>
            <p:cNvSpPr txBox="true"/>
            <p:nvPr/>
          </p:nvSpPr>
          <p:spPr>
            <a:xfrm rot="0">
              <a:off x="0" y="76200"/>
              <a:ext cx="5248566" cy="1710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79"/>
                </a:lnSpc>
                <a:spcBef>
                  <a:spcPct val="0"/>
                </a:spcBef>
              </a:pPr>
              <a:r>
                <a:rPr lang="en-US" b="true" sz="6200" strike="noStrike" u="none">
                  <a:solidFill>
                    <a:srgbClr val="E27EFF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02</a:t>
              </a:r>
            </a:p>
          </p:txBody>
        </p:sp>
      </p:grpSp>
      <p:grpSp>
        <p:nvGrpSpPr>
          <p:cNvPr name="CardBG515" id="515"/>
          <p:cNvGrpSpPr/>
          <p:nvPr/>
        </p:nvGrpSpPr>
        <p:grpSpPr>
          <a:xfrm rot="0">
            <a:off x="12182432" y="3100000"/>
            <a:ext cx="5076866" cy="2993500"/>
            <a:chOff x="0" y="0"/>
            <a:chExt cx="1305500" cy="1616222"/>
          </a:xfrm>
        </p:grpSpPr>
        <p:sp>
          <p:nvSpPr>
            <p:cNvPr name="CardBGShape516" id="516"/>
            <p:cNvSpPr/>
            <p:nvPr/>
          </p:nvSpPr>
          <p:spPr>
            <a:xfrm flipH="false" flipV="false" rot="0">
              <a:off x="0" y="0"/>
              <a:ext cx="1305500" cy="1616222"/>
            </a:xfrm>
            <a:custGeom>
              <a:avLst/>
              <a:gdLst/>
              <a:ahLst/>
              <a:cxnLst/>
              <a:rect r="r" b="b" t="t" l="l"/>
              <a:pathLst>
                <a:path h="1616222" w="1305500">
                  <a:moveTo>
                    <a:pt x="39047" y="0"/>
                  </a:moveTo>
                  <a:lnTo>
                    <a:pt x="1266454" y="0"/>
                  </a:lnTo>
                  <a:cubicBezTo>
                    <a:pt x="1288019" y="0"/>
                    <a:pt x="1305500" y="17482"/>
                    <a:pt x="1305500" y="39047"/>
                  </a:cubicBezTo>
                  <a:lnTo>
                    <a:pt x="1305500" y="1577175"/>
                  </a:lnTo>
                  <a:cubicBezTo>
                    <a:pt x="1305500" y="1598740"/>
                    <a:pt x="1288019" y="1616222"/>
                    <a:pt x="1266454" y="1616222"/>
                  </a:cubicBezTo>
                  <a:lnTo>
                    <a:pt x="39047" y="1616222"/>
                  </a:lnTo>
                  <a:cubicBezTo>
                    <a:pt x="17482" y="1616222"/>
                    <a:pt x="0" y="1598740"/>
                    <a:pt x="0" y="1577175"/>
                  </a:cubicBezTo>
                  <a:lnTo>
                    <a:pt x="0" y="39047"/>
                  </a:lnTo>
                  <a:cubicBezTo>
                    <a:pt x="0" y="17482"/>
                    <a:pt x="17482" y="0"/>
                    <a:pt x="39047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CardBGSpacer517" id="517"/>
            <p:cNvSpPr txBox="true"/>
            <p:nvPr/>
          </p:nvSpPr>
          <p:spPr>
            <a:xfrm>
              <a:off x="0" y="-47625"/>
              <a:ext cx="1305500" cy="1663847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CardTxt518" id="518"/>
          <p:cNvGrpSpPr/>
          <p:nvPr/>
        </p:nvGrpSpPr>
        <p:grpSpPr>
          <a:xfrm rot="0">
            <a:off x="12532432" y="3450000"/>
            <a:ext cx="4376866" cy="2293500"/>
            <a:chOff x="0" y="0"/>
            <a:chExt cx="5248566" cy="3971238"/>
          </a:xfrm>
        </p:grpSpPr>
        <p:sp>
          <p:nvSpPr>
            <p:cNvPr name="CardName519" id="519"/>
            <p:cNvSpPr txBox="true"/>
            <p:nvPr/>
          </p:nvSpPr>
          <p:spPr>
            <a:xfrm rot="0">
              <a:off x="0" y="2050000"/>
              <a:ext cx="5248566" cy="19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Aya Yasser Mohammed Fekry</a:t>
              </a:r>
            </a:p>
          </p:txBody>
        </p:sp>
        <p:sp>
          <p:nvSpPr>
            <p:cNvPr name="CardDescUnused520" id="520"/>
            <p:cNvSpPr txBox="true"/>
            <p:nvPr/>
          </p:nvSpPr>
          <p:spPr>
            <a:xfrm rot="0">
              <a:off x="0" y="2508833"/>
              <a:ext cx="524856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  <p:sp>
          <p:nvSpPr>
            <p:cNvPr name="CardNumber521" id="521"/>
            <p:cNvSpPr txBox="true"/>
            <p:nvPr/>
          </p:nvSpPr>
          <p:spPr>
            <a:xfrm rot="0">
              <a:off x="0" y="76200"/>
              <a:ext cx="5248566" cy="1710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79"/>
                </a:lnSpc>
                <a:spcBef>
                  <a:spcPct val="0"/>
                </a:spcBef>
              </a:pPr>
              <a:r>
                <a:rPr lang="en-US" b="true" sz="6200" strike="noStrike" u="none">
                  <a:solidFill>
                    <a:srgbClr val="E27EFF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03</a:t>
              </a:r>
            </a:p>
          </p:txBody>
        </p:sp>
      </p:grpSp>
      <p:grpSp>
        <p:nvGrpSpPr>
          <p:cNvPr name="CardBG522" id="522"/>
          <p:cNvGrpSpPr/>
          <p:nvPr/>
        </p:nvGrpSpPr>
        <p:grpSpPr>
          <a:xfrm rot="0">
            <a:off x="1028700" y="6593500"/>
            <a:ext cx="5076866" cy="2993500"/>
            <a:chOff x="0" y="0"/>
            <a:chExt cx="1305500" cy="1616222"/>
          </a:xfrm>
        </p:grpSpPr>
        <p:sp>
          <p:nvSpPr>
            <p:cNvPr name="CardBGShape523" id="523"/>
            <p:cNvSpPr/>
            <p:nvPr/>
          </p:nvSpPr>
          <p:spPr>
            <a:xfrm flipH="false" flipV="false" rot="0">
              <a:off x="0" y="0"/>
              <a:ext cx="1305500" cy="1616222"/>
            </a:xfrm>
            <a:custGeom>
              <a:avLst/>
              <a:gdLst/>
              <a:ahLst/>
              <a:cxnLst/>
              <a:rect r="r" b="b" t="t" l="l"/>
              <a:pathLst>
                <a:path h="1616222" w="1305500">
                  <a:moveTo>
                    <a:pt x="39047" y="0"/>
                  </a:moveTo>
                  <a:lnTo>
                    <a:pt x="1266454" y="0"/>
                  </a:lnTo>
                  <a:cubicBezTo>
                    <a:pt x="1288019" y="0"/>
                    <a:pt x="1305500" y="17482"/>
                    <a:pt x="1305500" y="39047"/>
                  </a:cubicBezTo>
                  <a:lnTo>
                    <a:pt x="1305500" y="1577175"/>
                  </a:lnTo>
                  <a:cubicBezTo>
                    <a:pt x="1305500" y="1598740"/>
                    <a:pt x="1288019" y="1616222"/>
                    <a:pt x="1266454" y="1616222"/>
                  </a:cubicBezTo>
                  <a:lnTo>
                    <a:pt x="39047" y="1616222"/>
                  </a:lnTo>
                  <a:cubicBezTo>
                    <a:pt x="17482" y="1616222"/>
                    <a:pt x="0" y="1598740"/>
                    <a:pt x="0" y="1577175"/>
                  </a:cubicBezTo>
                  <a:lnTo>
                    <a:pt x="0" y="39047"/>
                  </a:lnTo>
                  <a:cubicBezTo>
                    <a:pt x="0" y="17482"/>
                    <a:pt x="17482" y="0"/>
                    <a:pt x="39047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CardBGSpacer524" id="524"/>
            <p:cNvSpPr txBox="true"/>
            <p:nvPr/>
          </p:nvSpPr>
          <p:spPr>
            <a:xfrm>
              <a:off x="0" y="-47625"/>
              <a:ext cx="1305500" cy="1663847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CardTxt525" id="525"/>
          <p:cNvGrpSpPr/>
          <p:nvPr/>
        </p:nvGrpSpPr>
        <p:grpSpPr>
          <a:xfrm rot="0">
            <a:off x="1378700" y="6943500"/>
            <a:ext cx="4376866" cy="2293500"/>
            <a:chOff x="0" y="0"/>
            <a:chExt cx="5248566" cy="3971238"/>
          </a:xfrm>
        </p:grpSpPr>
        <p:sp>
          <p:nvSpPr>
            <p:cNvPr name="CardName526" id="526"/>
            <p:cNvSpPr txBox="true"/>
            <p:nvPr/>
          </p:nvSpPr>
          <p:spPr>
            <a:xfrm rot="0">
              <a:off x="0" y="2050000"/>
              <a:ext cx="5248566" cy="19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Habiba Ahmed Mohamed Mokhtar</a:t>
              </a:r>
            </a:p>
          </p:txBody>
        </p:sp>
        <p:sp>
          <p:nvSpPr>
            <p:cNvPr name="CardDescUnused527" id="527"/>
            <p:cNvSpPr txBox="true"/>
            <p:nvPr/>
          </p:nvSpPr>
          <p:spPr>
            <a:xfrm rot="0">
              <a:off x="0" y="2508833"/>
              <a:ext cx="524856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  <p:sp>
          <p:nvSpPr>
            <p:cNvPr name="CardNumber528" id="528"/>
            <p:cNvSpPr txBox="true"/>
            <p:nvPr/>
          </p:nvSpPr>
          <p:spPr>
            <a:xfrm rot="0">
              <a:off x="0" y="76200"/>
              <a:ext cx="5248566" cy="1710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79"/>
                </a:lnSpc>
                <a:spcBef>
                  <a:spcPct val="0"/>
                </a:spcBef>
              </a:pPr>
              <a:r>
                <a:rPr lang="en-US" b="true" sz="6200" strike="noStrike" u="none">
                  <a:solidFill>
                    <a:srgbClr val="E27EFF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04</a:t>
              </a:r>
            </a:p>
          </p:txBody>
        </p:sp>
      </p:grpSp>
      <p:grpSp>
        <p:nvGrpSpPr>
          <p:cNvPr name="CardBG529" id="529"/>
          <p:cNvGrpSpPr/>
          <p:nvPr/>
        </p:nvGrpSpPr>
        <p:grpSpPr>
          <a:xfrm rot="0">
            <a:off x="6605566" y="6593500"/>
            <a:ext cx="5076866" cy="2993500"/>
            <a:chOff x="0" y="0"/>
            <a:chExt cx="1305500" cy="1616222"/>
          </a:xfrm>
        </p:grpSpPr>
        <p:sp>
          <p:nvSpPr>
            <p:cNvPr name="CardBGShape530" id="530"/>
            <p:cNvSpPr/>
            <p:nvPr/>
          </p:nvSpPr>
          <p:spPr>
            <a:xfrm flipH="false" flipV="false" rot="0">
              <a:off x="0" y="0"/>
              <a:ext cx="1305500" cy="1616222"/>
            </a:xfrm>
            <a:custGeom>
              <a:avLst/>
              <a:gdLst/>
              <a:ahLst/>
              <a:cxnLst/>
              <a:rect r="r" b="b" t="t" l="l"/>
              <a:pathLst>
                <a:path h="1616222" w="1305500">
                  <a:moveTo>
                    <a:pt x="39047" y="0"/>
                  </a:moveTo>
                  <a:lnTo>
                    <a:pt x="1266454" y="0"/>
                  </a:lnTo>
                  <a:cubicBezTo>
                    <a:pt x="1288019" y="0"/>
                    <a:pt x="1305500" y="17482"/>
                    <a:pt x="1305500" y="39047"/>
                  </a:cubicBezTo>
                  <a:lnTo>
                    <a:pt x="1305500" y="1577175"/>
                  </a:lnTo>
                  <a:cubicBezTo>
                    <a:pt x="1305500" y="1598740"/>
                    <a:pt x="1288019" y="1616222"/>
                    <a:pt x="1266454" y="1616222"/>
                  </a:cubicBezTo>
                  <a:lnTo>
                    <a:pt x="39047" y="1616222"/>
                  </a:lnTo>
                  <a:cubicBezTo>
                    <a:pt x="17482" y="1616222"/>
                    <a:pt x="0" y="1598740"/>
                    <a:pt x="0" y="1577175"/>
                  </a:cubicBezTo>
                  <a:lnTo>
                    <a:pt x="0" y="39047"/>
                  </a:lnTo>
                  <a:cubicBezTo>
                    <a:pt x="0" y="17482"/>
                    <a:pt x="17482" y="0"/>
                    <a:pt x="39047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CardBGSpacer531" id="531"/>
            <p:cNvSpPr txBox="true"/>
            <p:nvPr/>
          </p:nvSpPr>
          <p:spPr>
            <a:xfrm>
              <a:off x="0" y="-47625"/>
              <a:ext cx="1305500" cy="1663847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CardTxt532" id="532"/>
          <p:cNvGrpSpPr/>
          <p:nvPr/>
        </p:nvGrpSpPr>
        <p:grpSpPr>
          <a:xfrm rot="0">
            <a:off x="6955566" y="6943500"/>
            <a:ext cx="4376866" cy="2293500"/>
            <a:chOff x="0" y="0"/>
            <a:chExt cx="5248566" cy="3971238"/>
          </a:xfrm>
        </p:grpSpPr>
        <p:sp>
          <p:nvSpPr>
            <p:cNvPr name="CardName533" id="533"/>
            <p:cNvSpPr txBox="true"/>
            <p:nvPr/>
          </p:nvSpPr>
          <p:spPr>
            <a:xfrm rot="0">
              <a:off x="0" y="2050000"/>
              <a:ext cx="5248566" cy="19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Razan Amjad Abu Shady</a:t>
              </a:r>
            </a:p>
          </p:txBody>
        </p:sp>
        <p:sp>
          <p:nvSpPr>
            <p:cNvPr name="CardDescUnused534" id="534"/>
            <p:cNvSpPr txBox="true"/>
            <p:nvPr/>
          </p:nvSpPr>
          <p:spPr>
            <a:xfrm rot="0">
              <a:off x="0" y="2508833"/>
              <a:ext cx="524856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  <p:sp>
          <p:nvSpPr>
            <p:cNvPr name="CardNumber535" id="535"/>
            <p:cNvSpPr txBox="true"/>
            <p:nvPr/>
          </p:nvSpPr>
          <p:spPr>
            <a:xfrm rot="0">
              <a:off x="0" y="76200"/>
              <a:ext cx="5248566" cy="1710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79"/>
                </a:lnSpc>
                <a:spcBef>
                  <a:spcPct val="0"/>
                </a:spcBef>
              </a:pPr>
              <a:r>
                <a:rPr lang="en-US" b="true" sz="6200" strike="noStrike" u="none">
                  <a:solidFill>
                    <a:srgbClr val="E27EFF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05</a:t>
              </a:r>
            </a:p>
          </p:txBody>
        </p:sp>
      </p:grpSp>
      <p:grpSp>
        <p:nvGrpSpPr>
          <p:cNvPr name="CardBG536" id="536"/>
          <p:cNvGrpSpPr/>
          <p:nvPr/>
        </p:nvGrpSpPr>
        <p:grpSpPr>
          <a:xfrm rot="0">
            <a:off x="12182432" y="6593500"/>
            <a:ext cx="5076866" cy="2993500"/>
            <a:chOff x="0" y="0"/>
            <a:chExt cx="1305500" cy="1616222"/>
          </a:xfrm>
        </p:grpSpPr>
        <p:sp>
          <p:nvSpPr>
            <p:cNvPr name="CardBGShape537" id="537"/>
            <p:cNvSpPr/>
            <p:nvPr/>
          </p:nvSpPr>
          <p:spPr>
            <a:xfrm flipH="false" flipV="false" rot="0">
              <a:off x="0" y="0"/>
              <a:ext cx="1305500" cy="1616222"/>
            </a:xfrm>
            <a:custGeom>
              <a:avLst/>
              <a:gdLst/>
              <a:ahLst/>
              <a:cxnLst/>
              <a:rect r="r" b="b" t="t" l="l"/>
              <a:pathLst>
                <a:path h="1616222" w="1305500">
                  <a:moveTo>
                    <a:pt x="39047" y="0"/>
                  </a:moveTo>
                  <a:lnTo>
                    <a:pt x="1266454" y="0"/>
                  </a:lnTo>
                  <a:cubicBezTo>
                    <a:pt x="1288019" y="0"/>
                    <a:pt x="1305500" y="17482"/>
                    <a:pt x="1305500" y="39047"/>
                  </a:cubicBezTo>
                  <a:lnTo>
                    <a:pt x="1305500" y="1577175"/>
                  </a:lnTo>
                  <a:cubicBezTo>
                    <a:pt x="1305500" y="1598740"/>
                    <a:pt x="1288019" y="1616222"/>
                    <a:pt x="1266454" y="1616222"/>
                  </a:cubicBezTo>
                  <a:lnTo>
                    <a:pt x="39047" y="1616222"/>
                  </a:lnTo>
                  <a:cubicBezTo>
                    <a:pt x="17482" y="1616222"/>
                    <a:pt x="0" y="1598740"/>
                    <a:pt x="0" y="1577175"/>
                  </a:cubicBezTo>
                  <a:lnTo>
                    <a:pt x="0" y="39047"/>
                  </a:lnTo>
                  <a:cubicBezTo>
                    <a:pt x="0" y="17482"/>
                    <a:pt x="17482" y="0"/>
                    <a:pt x="39047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CardBGSpacer538" id="538"/>
            <p:cNvSpPr txBox="true"/>
            <p:nvPr/>
          </p:nvSpPr>
          <p:spPr>
            <a:xfrm>
              <a:off x="0" y="-47625"/>
              <a:ext cx="1305500" cy="1663847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CardTxt539" id="539"/>
          <p:cNvGrpSpPr/>
          <p:nvPr/>
        </p:nvGrpSpPr>
        <p:grpSpPr>
          <a:xfrm rot="0">
            <a:off x="12532432" y="6943500"/>
            <a:ext cx="4376866" cy="2293500"/>
            <a:chOff x="0" y="0"/>
            <a:chExt cx="5248566" cy="3971238"/>
          </a:xfrm>
        </p:grpSpPr>
        <p:sp>
          <p:nvSpPr>
            <p:cNvPr name="CardName540" id="540"/>
            <p:cNvSpPr txBox="true"/>
            <p:nvPr/>
          </p:nvSpPr>
          <p:spPr>
            <a:xfrm rot="0">
              <a:off x="0" y="2050000"/>
              <a:ext cx="5248566" cy="19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Mai Adel Abdel Hakam Ebrahim</a:t>
              </a:r>
            </a:p>
          </p:txBody>
        </p:sp>
        <p:sp>
          <p:nvSpPr>
            <p:cNvPr name="CardDescUnused541" id="541"/>
            <p:cNvSpPr txBox="true"/>
            <p:nvPr/>
          </p:nvSpPr>
          <p:spPr>
            <a:xfrm rot="0">
              <a:off x="0" y="2508833"/>
              <a:ext cx="524856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  <p:sp>
          <p:nvSpPr>
            <p:cNvPr name="CardNumber542" id="542"/>
            <p:cNvSpPr txBox="true"/>
            <p:nvPr/>
          </p:nvSpPr>
          <p:spPr>
            <a:xfrm rot="0">
              <a:off x="0" y="76200"/>
              <a:ext cx="5248566" cy="1710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79"/>
                </a:lnSpc>
                <a:spcBef>
                  <a:spcPct val="0"/>
                </a:spcBef>
              </a:pPr>
              <a:r>
                <a:rPr lang="en-US" b="true" sz="6200" strike="noStrike" u="none">
                  <a:solidFill>
                    <a:srgbClr val="E27EFF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69884" y="-1835111"/>
            <a:ext cx="27014040" cy="7226256"/>
          </a:xfrm>
          <a:custGeom>
            <a:avLst/>
            <a:gdLst/>
            <a:ahLst/>
            <a:cxnLst/>
            <a:rect r="r" b="b" t="t" l="l"/>
            <a:pathLst>
              <a:path h="7226256" w="27014040">
                <a:moveTo>
                  <a:pt x="0" y="0"/>
                </a:moveTo>
                <a:lnTo>
                  <a:pt x="27014040" y="0"/>
                </a:lnTo>
                <a:lnTo>
                  <a:pt x="27014040" y="7226255"/>
                </a:lnTo>
                <a:lnTo>
                  <a:pt x="0" y="7226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729035">
            <a:off x="5310775" y="-2619916"/>
            <a:ext cx="27279375" cy="7297233"/>
          </a:xfrm>
          <a:custGeom>
            <a:avLst/>
            <a:gdLst/>
            <a:ahLst/>
            <a:cxnLst/>
            <a:rect r="r" b="b" t="t" l="l"/>
            <a:pathLst>
              <a:path h="7297233" w="27279375">
                <a:moveTo>
                  <a:pt x="0" y="0"/>
                </a:moveTo>
                <a:lnTo>
                  <a:pt x="27279375" y="0"/>
                </a:lnTo>
                <a:lnTo>
                  <a:pt x="27279375" y="7297232"/>
                </a:lnTo>
                <a:lnTo>
                  <a:pt x="0" y="729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083102">
            <a:off x="-15473893" y="-2799267"/>
            <a:ext cx="27279375" cy="7297233"/>
          </a:xfrm>
          <a:custGeom>
            <a:avLst/>
            <a:gdLst/>
            <a:ahLst/>
            <a:cxnLst/>
            <a:rect r="r" b="b" t="t" l="l"/>
            <a:pathLst>
              <a:path h="7297233" w="27279375">
                <a:moveTo>
                  <a:pt x="27279375" y="0"/>
                </a:moveTo>
                <a:lnTo>
                  <a:pt x="0" y="0"/>
                </a:lnTo>
                <a:lnTo>
                  <a:pt x="0" y="7297233"/>
                </a:lnTo>
                <a:lnTo>
                  <a:pt x="27279375" y="7297233"/>
                </a:lnTo>
                <a:lnTo>
                  <a:pt x="272793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74382" y="6664666"/>
            <a:ext cx="578061" cy="57806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81832" y="6664666"/>
            <a:ext cx="578061" cy="57806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05354" y="4797102"/>
            <a:ext cx="16353946" cy="1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9"/>
              </a:lnSpc>
              <a:spcBef>
                <a:spcPct val="0"/>
              </a:spcBef>
            </a:pPr>
            <a:r>
              <a:rPr lang="en-US" b="true" sz="8799" strike="noStrike" u="none">
                <a:solidFill>
                  <a:srgbClr val="5A3CAD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Modeling &amp; Tuning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7700000"/>
            <a:ext cx="3469425" cy="1236506"/>
            <a:chOff x="0" y="0"/>
            <a:chExt cx="4625899" cy="16486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4625899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Split &amp; select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250000"/>
              <a:ext cx="4625899" cy="14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80/20 stratified split. Feature selection tested k=5-30; k=15 chosen.</a:t>
              </a:r>
            </a:p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89875" y="7700000"/>
            <a:ext cx="3469425" cy="1236506"/>
            <a:chOff x="0" y="0"/>
            <a:chExt cx="4625899" cy="164867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4625899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Retrain &amp; score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250000"/>
              <a:ext cx="4625899" cy="14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Best model retrained on all rows, scores the 2,129-row test set.</a:t>
              </a:r>
            </a:p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36150" y="7700000"/>
            <a:ext cx="3469425" cy="1236506"/>
            <a:chOff x="0" y="0"/>
            <a:chExt cx="4625899" cy="164867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0"/>
              <a:ext cx="4625899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Tune for imbalance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250000"/>
              <a:ext cx="4625899" cy="14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GridSearchCV tuning for class imbalance.</a:t>
              </a:r>
            </a:p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282425" y="7700000"/>
            <a:ext cx="3469425" cy="1236506"/>
            <a:chOff x="0" y="0"/>
            <a:chExt cx="4625899" cy="164867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0"/>
              <a:ext cx="4625899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Compare 5 models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250000"/>
              <a:ext cx="4625899" cy="14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LR, Random Forest, Gradient Boosting, XGBoost.</a:t>
              </a:r>
            </a:p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728107" y="6664666"/>
            <a:ext cx="578061" cy="578061"/>
          </a:xfrm>
          <a:custGeom>
            <a:avLst/>
            <a:gdLst/>
            <a:ahLst/>
            <a:cxnLst/>
            <a:rect r="r" b="b" t="t" l="l"/>
            <a:pathLst>
              <a:path h="578061" w="578061">
                <a:moveTo>
                  <a:pt x="0" y="0"/>
                </a:moveTo>
                <a:lnTo>
                  <a:pt x="578061" y="0"/>
                </a:lnTo>
                <a:lnTo>
                  <a:pt x="578061" y="578061"/>
                </a:lnTo>
                <a:lnTo>
                  <a:pt x="0" y="578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35557" y="6664666"/>
            <a:ext cx="578061" cy="578061"/>
          </a:xfrm>
          <a:custGeom>
            <a:avLst/>
            <a:gdLst/>
            <a:ahLst/>
            <a:cxnLst/>
            <a:rect r="r" b="b" t="t" l="l"/>
            <a:pathLst>
              <a:path h="578061" w="578061">
                <a:moveTo>
                  <a:pt x="0" y="0"/>
                </a:moveTo>
                <a:lnTo>
                  <a:pt x="578061" y="0"/>
                </a:lnTo>
                <a:lnTo>
                  <a:pt x="578061" y="578061"/>
                </a:lnTo>
                <a:lnTo>
                  <a:pt x="0" y="578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3052443" y="6953697"/>
            <a:ext cx="3675664" cy="0"/>
          </a:xfrm>
          <a:prstGeom prst="line">
            <a:avLst/>
          </a:prstGeom>
          <a:ln cap="flat" w="38100">
            <a:solidFill>
              <a:srgbClr val="D7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28700" y="6953697"/>
            <a:ext cx="1445682" cy="0"/>
          </a:xfrm>
          <a:prstGeom prst="line">
            <a:avLst/>
          </a:prstGeom>
          <a:ln cap="flat" w="38100">
            <a:solidFill>
              <a:srgbClr val="D7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7306168" y="6953697"/>
            <a:ext cx="3675664" cy="0"/>
          </a:xfrm>
          <a:prstGeom prst="line">
            <a:avLst/>
          </a:prstGeom>
          <a:ln cap="flat" w="38100">
            <a:solidFill>
              <a:srgbClr val="D7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1559893" y="6953697"/>
            <a:ext cx="3675664" cy="0"/>
          </a:xfrm>
          <a:prstGeom prst="line">
            <a:avLst/>
          </a:prstGeom>
          <a:ln cap="flat" w="38100">
            <a:solidFill>
              <a:srgbClr val="D7D8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5813618" y="6953697"/>
            <a:ext cx="1445682" cy="0"/>
          </a:xfrm>
          <a:prstGeom prst="line">
            <a:avLst/>
          </a:prstGeom>
          <a:ln cap="flat" w="38100">
            <a:solidFill>
              <a:srgbClr val="D7D8D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-7708935" y="-4904043"/>
            <a:ext cx="19680649" cy="8241272"/>
          </a:xfrm>
          <a:custGeom>
            <a:avLst/>
            <a:gdLst/>
            <a:ahLst/>
            <a:cxnLst/>
            <a:rect r="r" b="b" t="t" l="l"/>
            <a:pathLst>
              <a:path h="8241272" w="19680649">
                <a:moveTo>
                  <a:pt x="0" y="0"/>
                </a:moveTo>
                <a:lnTo>
                  <a:pt x="19680649" y="0"/>
                </a:lnTo>
                <a:lnTo>
                  <a:pt x="19680649" y="8241271"/>
                </a:lnTo>
                <a:lnTo>
                  <a:pt x="0" y="8241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6184305" y="-4904043"/>
            <a:ext cx="19680649" cy="8241272"/>
          </a:xfrm>
          <a:custGeom>
            <a:avLst/>
            <a:gdLst/>
            <a:ahLst/>
            <a:cxnLst/>
            <a:rect r="r" b="b" t="t" l="l"/>
            <a:pathLst>
              <a:path h="8241272" w="19680649">
                <a:moveTo>
                  <a:pt x="19680648" y="0"/>
                </a:moveTo>
                <a:lnTo>
                  <a:pt x="0" y="0"/>
                </a:lnTo>
                <a:lnTo>
                  <a:pt x="0" y="8241271"/>
                </a:lnTo>
                <a:lnTo>
                  <a:pt x="19680648" y="8241271"/>
                </a:lnTo>
                <a:lnTo>
                  <a:pt x="1968064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55466" y="1104900"/>
            <a:ext cx="11777068" cy="1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9"/>
              </a:lnSpc>
              <a:spcBef>
                <a:spcPct val="0"/>
              </a:spcBef>
            </a:pPr>
            <a:r>
              <a:rPr lang="en-US" b="true" sz="8799" strike="noStrike" u="none">
                <a:solidFill>
                  <a:srgbClr val="5A3CAD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The Dataset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5300000"/>
            <a:ext cx="4722585" cy="1324099"/>
            <a:chOff x="0" y="0"/>
            <a:chExt cx="6296780" cy="17654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629678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4400" strike="noStrike" u="none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19,158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1520"/>
              <a:ext cx="6296780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Training rows</a:t>
              </a:r>
            </a:p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82708" y="5300000"/>
            <a:ext cx="4722585" cy="1324099"/>
            <a:chOff x="0" y="0"/>
            <a:chExt cx="6296780" cy="176546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629678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4400" strike="noStrike" u="none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2,129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1520"/>
              <a:ext cx="6296780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Unlabeled test rows</a:t>
              </a:r>
            </a:p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36715" y="5300000"/>
            <a:ext cx="4722585" cy="1324099"/>
            <a:chOff x="0" y="0"/>
            <a:chExt cx="6296780" cy="176546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629678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4400" strike="noStrike" u="none">
                  <a:solidFill>
                    <a:srgbClr val="000000"/>
                  </a:solidFill>
                  <a:latin typeface="Sarabun Semi-Bold"/>
                  <a:ea typeface="Sarabun Semi-Bold"/>
                  <a:cs typeface="Sarabun Semi-Bold"/>
                  <a:sym typeface="Sarabun Semi-Bold"/>
                </a:rPr>
                <a:t>75% / 25%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1520"/>
              <a:ext cx="6296780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No change vs. will change</a:t>
              </a:r>
            </a:p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/>
              </a:r>
            </a:p>
          </p:txBody>
        </p:sp>
      </p:grpSp>
      <p:sp>
        <p:nvSpPr>
          <p:cNvPr name="StatCard3001" id="3001"/>
          <p:cNvSpPr/>
          <p:nvPr/>
        </p:nvSpPr>
        <p:spPr>
          <a:xfrm rot="0">
            <a:off x="1028700" y="4550000"/>
            <a:ext cx="120000" cy="550000"/>
          </a:xfrm>
          <a:prstGeom prst="roundRect">
            <a:avLst>
              <a:gd name="adj" fmla="val 15000"/>
            </a:avLst>
          </a:prstGeom>
          <a:solidFill>
            <a:srgbClr val="70E6E3"/>
          </a:solidFill>
          <a:ln>
            <a:noFill/>
          </a:ln>
        </p:spPr>
      </p:sp>
      <p:sp>
        <p:nvSpPr>
          <p:cNvPr name="StatCard3002" id="3002"/>
          <p:cNvSpPr/>
          <p:nvPr/>
        </p:nvSpPr>
        <p:spPr>
          <a:xfrm rot="0">
            <a:off x="6782708" y="4550000"/>
            <a:ext cx="120000" cy="550000"/>
          </a:xfrm>
          <a:prstGeom prst="roundRect">
            <a:avLst>
              <a:gd name="adj" fmla="val 15000"/>
            </a:avLst>
          </a:prstGeom>
          <a:solidFill>
            <a:srgbClr val="E27EFF"/>
          </a:solidFill>
          <a:ln>
            <a:noFill/>
          </a:ln>
        </p:spPr>
      </p:sp>
      <p:sp>
        <p:nvSpPr>
          <p:cNvPr name="StatCard3003" id="3003"/>
          <p:cNvSpPr/>
          <p:nvPr/>
        </p:nvSpPr>
        <p:spPr>
          <a:xfrm rot="0">
            <a:off x="12536715" y="4550000"/>
            <a:ext cx="120000" cy="550000"/>
          </a:xfrm>
          <a:prstGeom prst="roundRect">
            <a:avLst>
              <a:gd name="adj" fmla="val 15000"/>
            </a:avLst>
          </a:prstGeom>
          <a:solidFill>
            <a:srgbClr val="5A3CAD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58396" y="4239582"/>
            <a:ext cx="19514493" cy="7147183"/>
          </a:xfrm>
          <a:custGeom>
            <a:avLst/>
            <a:gdLst/>
            <a:ahLst/>
            <a:cxnLst/>
            <a:rect r="r" b="b" t="t" l="l"/>
            <a:pathLst>
              <a:path h="7147183" w="19514493">
                <a:moveTo>
                  <a:pt x="0" y="0"/>
                </a:moveTo>
                <a:lnTo>
                  <a:pt x="19514493" y="0"/>
                </a:lnTo>
                <a:lnTo>
                  <a:pt x="19514493" y="7147183"/>
                </a:lnTo>
                <a:lnTo>
                  <a:pt x="0" y="7147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694181" y="-3073615"/>
            <a:ext cx="19514493" cy="7147183"/>
          </a:xfrm>
          <a:custGeom>
            <a:avLst/>
            <a:gdLst/>
            <a:ahLst/>
            <a:cxnLst/>
            <a:rect r="r" b="b" t="t" l="l"/>
            <a:pathLst>
              <a:path h="7147183" w="19514493">
                <a:moveTo>
                  <a:pt x="19514493" y="0"/>
                </a:moveTo>
                <a:lnTo>
                  <a:pt x="0" y="0"/>
                </a:lnTo>
                <a:lnTo>
                  <a:pt x="0" y="7147183"/>
                </a:lnTo>
                <a:lnTo>
                  <a:pt x="19514493" y="7147183"/>
                </a:lnTo>
                <a:lnTo>
                  <a:pt x="195144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26846">
            <a:off x="5729394" y="-15360233"/>
            <a:ext cx="21693159" cy="11551607"/>
          </a:xfrm>
          <a:custGeom>
            <a:avLst/>
            <a:gdLst/>
            <a:ahLst/>
            <a:cxnLst/>
            <a:rect r="r" b="b" t="t" l="l"/>
            <a:pathLst>
              <a:path h="11551607" w="21693159">
                <a:moveTo>
                  <a:pt x="0" y="0"/>
                </a:moveTo>
                <a:lnTo>
                  <a:pt x="21693159" y="0"/>
                </a:lnTo>
                <a:lnTo>
                  <a:pt x="21693159" y="11551607"/>
                </a:lnTo>
                <a:lnTo>
                  <a:pt x="0" y="11551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969245"/>
            <a:ext cx="8000102" cy="2911567"/>
            <a:chOff x="0" y="0"/>
            <a:chExt cx="2107023" cy="766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7023" cy="766832"/>
            </a:xfrm>
            <a:custGeom>
              <a:avLst/>
              <a:gdLst/>
              <a:ahLst/>
              <a:cxnLst/>
              <a:rect r="r" b="b" t="t" l="l"/>
              <a:pathLst>
                <a:path h="766832" w="2107023">
                  <a:moveTo>
                    <a:pt x="24193" y="0"/>
                  </a:moveTo>
                  <a:lnTo>
                    <a:pt x="2082830" y="0"/>
                  </a:lnTo>
                  <a:cubicBezTo>
                    <a:pt x="2096191" y="0"/>
                    <a:pt x="2107023" y="10832"/>
                    <a:pt x="2107023" y="24193"/>
                  </a:cubicBezTo>
                  <a:lnTo>
                    <a:pt x="2107023" y="742639"/>
                  </a:lnTo>
                  <a:cubicBezTo>
                    <a:pt x="2107023" y="756001"/>
                    <a:pt x="2096191" y="766832"/>
                    <a:pt x="2082830" y="766832"/>
                  </a:cubicBezTo>
                  <a:lnTo>
                    <a:pt x="24193" y="766832"/>
                  </a:lnTo>
                  <a:cubicBezTo>
                    <a:pt x="10832" y="766832"/>
                    <a:pt x="0" y="756001"/>
                    <a:pt x="0" y="742639"/>
                  </a:cubicBezTo>
                  <a:lnTo>
                    <a:pt x="0" y="24193"/>
                  </a:lnTo>
                  <a:cubicBezTo>
                    <a:pt x="0" y="10832"/>
                    <a:pt x="10832" y="0"/>
                    <a:pt x="24193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07023" cy="814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59198" y="2969245"/>
            <a:ext cx="8000102" cy="2911567"/>
            <a:chOff x="0" y="0"/>
            <a:chExt cx="2107023" cy="766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7023" cy="766832"/>
            </a:xfrm>
            <a:custGeom>
              <a:avLst/>
              <a:gdLst/>
              <a:ahLst/>
              <a:cxnLst/>
              <a:rect r="r" b="b" t="t" l="l"/>
              <a:pathLst>
                <a:path h="766832" w="2107023">
                  <a:moveTo>
                    <a:pt x="24193" y="0"/>
                  </a:moveTo>
                  <a:lnTo>
                    <a:pt x="2082830" y="0"/>
                  </a:lnTo>
                  <a:cubicBezTo>
                    <a:pt x="2096191" y="0"/>
                    <a:pt x="2107023" y="10832"/>
                    <a:pt x="2107023" y="24193"/>
                  </a:cubicBezTo>
                  <a:lnTo>
                    <a:pt x="2107023" y="742639"/>
                  </a:lnTo>
                  <a:cubicBezTo>
                    <a:pt x="2107023" y="756001"/>
                    <a:pt x="2096191" y="766832"/>
                    <a:pt x="2082830" y="766832"/>
                  </a:cubicBezTo>
                  <a:lnTo>
                    <a:pt x="24193" y="766832"/>
                  </a:lnTo>
                  <a:cubicBezTo>
                    <a:pt x="10832" y="766832"/>
                    <a:pt x="0" y="756001"/>
                    <a:pt x="0" y="742639"/>
                  </a:cubicBezTo>
                  <a:lnTo>
                    <a:pt x="0" y="24193"/>
                  </a:lnTo>
                  <a:cubicBezTo>
                    <a:pt x="0" y="10832"/>
                    <a:pt x="10832" y="0"/>
                    <a:pt x="24193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7023" cy="814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6153565"/>
            <a:ext cx="8000102" cy="2911567"/>
            <a:chOff x="0" y="0"/>
            <a:chExt cx="2107023" cy="766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7023" cy="766832"/>
            </a:xfrm>
            <a:custGeom>
              <a:avLst/>
              <a:gdLst/>
              <a:ahLst/>
              <a:cxnLst/>
              <a:rect r="r" b="b" t="t" l="l"/>
              <a:pathLst>
                <a:path h="766832" w="2107023">
                  <a:moveTo>
                    <a:pt x="24193" y="0"/>
                  </a:moveTo>
                  <a:lnTo>
                    <a:pt x="2082830" y="0"/>
                  </a:lnTo>
                  <a:cubicBezTo>
                    <a:pt x="2096191" y="0"/>
                    <a:pt x="2107023" y="10832"/>
                    <a:pt x="2107023" y="24193"/>
                  </a:cubicBezTo>
                  <a:lnTo>
                    <a:pt x="2107023" y="742639"/>
                  </a:lnTo>
                  <a:cubicBezTo>
                    <a:pt x="2107023" y="756001"/>
                    <a:pt x="2096191" y="766832"/>
                    <a:pt x="2082830" y="766832"/>
                  </a:cubicBezTo>
                  <a:lnTo>
                    <a:pt x="24193" y="766832"/>
                  </a:lnTo>
                  <a:cubicBezTo>
                    <a:pt x="10832" y="766832"/>
                    <a:pt x="0" y="756001"/>
                    <a:pt x="0" y="742639"/>
                  </a:cubicBezTo>
                  <a:lnTo>
                    <a:pt x="0" y="24193"/>
                  </a:lnTo>
                  <a:cubicBezTo>
                    <a:pt x="0" y="10832"/>
                    <a:pt x="10832" y="0"/>
                    <a:pt x="24193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7023" cy="814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59198" y="6153565"/>
            <a:ext cx="8000102" cy="2911567"/>
            <a:chOff x="0" y="0"/>
            <a:chExt cx="2107023" cy="766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7023" cy="766832"/>
            </a:xfrm>
            <a:custGeom>
              <a:avLst/>
              <a:gdLst/>
              <a:ahLst/>
              <a:cxnLst/>
              <a:rect r="r" b="b" t="t" l="l"/>
              <a:pathLst>
                <a:path h="766832" w="2107023">
                  <a:moveTo>
                    <a:pt x="24193" y="0"/>
                  </a:moveTo>
                  <a:lnTo>
                    <a:pt x="2082830" y="0"/>
                  </a:lnTo>
                  <a:cubicBezTo>
                    <a:pt x="2096191" y="0"/>
                    <a:pt x="2107023" y="10832"/>
                    <a:pt x="2107023" y="24193"/>
                  </a:cubicBezTo>
                  <a:lnTo>
                    <a:pt x="2107023" y="742639"/>
                  </a:lnTo>
                  <a:cubicBezTo>
                    <a:pt x="2107023" y="756001"/>
                    <a:pt x="2096191" y="766832"/>
                    <a:pt x="2082830" y="766832"/>
                  </a:cubicBezTo>
                  <a:lnTo>
                    <a:pt x="24193" y="766832"/>
                  </a:lnTo>
                  <a:cubicBezTo>
                    <a:pt x="10832" y="766832"/>
                    <a:pt x="0" y="756001"/>
                    <a:pt x="0" y="742639"/>
                  </a:cubicBezTo>
                  <a:lnTo>
                    <a:pt x="0" y="24193"/>
                  </a:lnTo>
                  <a:cubicBezTo>
                    <a:pt x="0" y="10832"/>
                    <a:pt x="10832" y="0"/>
                    <a:pt x="24193" y="0"/>
                  </a:cubicBezTo>
                  <a:close/>
                </a:path>
              </a:pathLst>
            </a:custGeom>
            <a:solidFill>
              <a:srgbClr val="5A3C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07023" cy="814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698851" y="3540873"/>
            <a:ext cx="1891486" cy="1897549"/>
          </a:xfrm>
          <a:custGeom>
            <a:avLst/>
            <a:gdLst/>
            <a:ahLst/>
            <a:cxnLst/>
            <a:rect r="r" b="b" t="t" l="l"/>
            <a:pathLst>
              <a:path h="1897549" w="1891486">
                <a:moveTo>
                  <a:pt x="0" y="0"/>
                </a:moveTo>
                <a:lnTo>
                  <a:pt x="1891486" y="0"/>
                </a:lnTo>
                <a:lnTo>
                  <a:pt x="1891486" y="1897549"/>
                </a:lnTo>
                <a:lnTo>
                  <a:pt x="0" y="18975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6569176" y="6708630"/>
            <a:ext cx="2021161" cy="1676353"/>
          </a:xfrm>
          <a:custGeom>
            <a:avLst/>
            <a:gdLst/>
            <a:ahLst/>
            <a:cxnLst/>
            <a:rect r="r" b="b" t="t" l="l"/>
            <a:pathLst>
              <a:path h="1676353" w="2021161">
                <a:moveTo>
                  <a:pt x="0" y="0"/>
                </a:moveTo>
                <a:lnTo>
                  <a:pt x="2021161" y="0"/>
                </a:lnTo>
                <a:lnTo>
                  <a:pt x="2021161" y="1676353"/>
                </a:lnTo>
                <a:lnTo>
                  <a:pt x="0" y="16763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4694181" y="3480089"/>
            <a:ext cx="2080104" cy="1889385"/>
          </a:xfrm>
          <a:custGeom>
            <a:avLst/>
            <a:gdLst/>
            <a:ahLst/>
            <a:cxnLst/>
            <a:rect r="r" b="b" t="t" l="l"/>
            <a:pathLst>
              <a:path h="1889385" w="2080104">
                <a:moveTo>
                  <a:pt x="0" y="0"/>
                </a:moveTo>
                <a:lnTo>
                  <a:pt x="2080104" y="0"/>
                </a:lnTo>
                <a:lnTo>
                  <a:pt x="2080104" y="1889386"/>
                </a:lnTo>
                <a:lnTo>
                  <a:pt x="0" y="1889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4999837" y="6708630"/>
            <a:ext cx="1774448" cy="1759365"/>
          </a:xfrm>
          <a:custGeom>
            <a:avLst/>
            <a:gdLst/>
            <a:ahLst/>
            <a:cxnLst/>
            <a:rect r="r" b="b" t="t" l="l"/>
            <a:pathLst>
              <a:path h="1759365" w="1774448">
                <a:moveTo>
                  <a:pt x="0" y="0"/>
                </a:moveTo>
                <a:lnTo>
                  <a:pt x="1774448" y="0"/>
                </a:lnTo>
                <a:lnTo>
                  <a:pt x="1774448" y="1759364"/>
                </a:lnTo>
                <a:lnTo>
                  <a:pt x="0" y="17593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1028700" y="1104900"/>
            <a:ext cx="16230600" cy="126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5A3CAD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Cleaning &amp; Feature Eng.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15368" y="3605982"/>
            <a:ext cx="4298709" cy="1638092"/>
            <a:chOff x="0" y="0"/>
            <a:chExt cx="5731611" cy="218412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0"/>
              <a:ext cx="5731611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Group-aware imputation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331318"/>
              <a:ext cx="5731611" cy="12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Missing values filled using group-based modes instead of one global guess.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45866" y="3605982"/>
            <a:ext cx="4298709" cy="1638092"/>
            <a:chOff x="0" y="0"/>
            <a:chExt cx="5731611" cy="218412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0"/>
              <a:ext cx="5731611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Ordinal vs. sentinel handling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331318"/>
              <a:ext cx="5731611" cy="12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"Unknown" for nominal gaps; a -1 sentinel preserves company_size's numeric order.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15368" y="6790303"/>
            <a:ext cx="4298709" cy="1638092"/>
            <a:chOff x="0" y="0"/>
            <a:chExt cx="5731611" cy="218412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0"/>
              <a:ext cx="5731611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4 engineered features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331318"/>
              <a:ext cx="5731611" cy="12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job_stability, low/high_experience, recent_job_change.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45866" y="6790303"/>
            <a:ext cx="4298709" cy="1638092"/>
            <a:chOff x="0" y="0"/>
            <a:chExt cx="5731611" cy="2184123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0"/>
              <a:ext cx="5731611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High-cardinality city dropped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331318"/>
              <a:ext cx="5731611" cy="120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123 unique cities dropped for a simpler, more generalizable model.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52246">
            <a:off x="-2370180" y="-4768130"/>
            <a:ext cx="30235906" cy="16100620"/>
          </a:xfrm>
          <a:custGeom>
            <a:avLst/>
            <a:gdLst/>
            <a:ahLst/>
            <a:cxnLst/>
            <a:rect r="r" b="b" t="t" l="l"/>
            <a:pathLst>
              <a:path h="16100620" w="30235906">
                <a:moveTo>
                  <a:pt x="0" y="0"/>
                </a:moveTo>
                <a:lnTo>
                  <a:pt x="30235907" y="0"/>
                </a:lnTo>
                <a:lnTo>
                  <a:pt x="30235907" y="16100620"/>
                </a:lnTo>
                <a:lnTo>
                  <a:pt x="0" y="1610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52246">
            <a:off x="-24890626" y="-16686193"/>
            <a:ext cx="30235906" cy="16100620"/>
          </a:xfrm>
          <a:custGeom>
            <a:avLst/>
            <a:gdLst/>
            <a:ahLst/>
            <a:cxnLst/>
            <a:rect r="r" b="b" t="t" l="l"/>
            <a:pathLst>
              <a:path h="16100620" w="30235906">
                <a:moveTo>
                  <a:pt x="0" y="0"/>
                </a:moveTo>
                <a:lnTo>
                  <a:pt x="30235906" y="0"/>
                </a:lnTo>
                <a:lnTo>
                  <a:pt x="30235906" y="16100620"/>
                </a:lnTo>
                <a:lnTo>
                  <a:pt x="0" y="1610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72239" y="0"/>
            <a:ext cx="9525280" cy="15262463"/>
          </a:xfrm>
          <a:custGeom>
            <a:avLst/>
            <a:gdLst/>
            <a:ahLst/>
            <a:cxnLst/>
            <a:rect r="r" b="b" t="t" l="l"/>
            <a:pathLst>
              <a:path h="15262463" w="9525280">
                <a:moveTo>
                  <a:pt x="0" y="0"/>
                </a:moveTo>
                <a:lnTo>
                  <a:pt x="9525280" y="0"/>
                </a:lnTo>
                <a:lnTo>
                  <a:pt x="9525280" y="15262463"/>
                </a:lnTo>
                <a:lnTo>
                  <a:pt x="0" y="152624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6753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141881" y="1238165"/>
            <a:ext cx="8706903" cy="4699045"/>
            <a:chOff x="0" y="0"/>
            <a:chExt cx="11609203" cy="626539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6200"/>
              <a:ext cx="11609203" cy="3349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79"/>
                </a:lnSpc>
              </a:pPr>
              <a:r>
                <a:rPr lang="en-US" sz="8799" b="true">
                  <a:solidFill>
                    <a:srgbClr val="5A3CAD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Business</a:t>
              </a:r>
            </a:p>
            <a:p>
              <a:pPr algn="ctr" marL="0" indent="0" lvl="0">
                <a:lnSpc>
                  <a:spcPts val="9679"/>
                </a:lnSpc>
              </a:pPr>
              <a:r>
                <a:rPr lang="en-US" b="true" sz="8799">
                  <a:solidFill>
                    <a:srgbClr val="5A3CAD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Impact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661470"/>
              <a:ext cx="11609203" cy="260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0000" indent="-450000">
                <a:lnSpc>
                  <a:spcPts val="3200"/>
                </a:lnSpc>
                <a:spcBef>
                  <a:spcPct val="0"/>
                </a:spcBef>
                <a:buClr>
                  <a:srgbClr val="70E6E3"/>
                </a:buClr>
                <a:buFont typeface="Arial"/>
                <a:buChar char="•"/>
              </a:pPr>
              <a:r>
                <a:rPr lang="en-US" sz="2400" b="true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Recruiters see who’s most likely to say yes — no more working through applications in random order.</a:t>
              </a:r>
            </a:p>
            <a:p>
              <a:pPr algn="l" marL="450000" indent="-450000">
                <a:lnSpc>
                  <a:spcPts val="3200"/>
                </a:lnSpc>
                <a:spcBef>
                  <a:spcPct val="20000"/>
                </a:spcBef>
                <a:buClr>
                  <a:srgbClr val="E27EFF"/>
                </a:buClr>
                <a:buFont typeface="Arial"/>
                <a:buChar char="•"/>
              </a:pPr>
              <a:r>
                <a:rPr lang="en-US" sz="2400" b="true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Catches over half of real job-seekers, more than double a simple baseline model.</a:t>
              </a:r>
            </a:p>
            <a:p>
              <a:pPr algn="l" marL="450000" indent="-450000">
                <a:lnSpc>
                  <a:spcPts val="3200"/>
                </a:lnSpc>
                <a:spcBef>
                  <a:spcPct val="20000"/>
                </a:spcBef>
                <a:buClr>
                  <a:srgbClr val="5A3CAD"/>
                </a:buClr>
                <a:buFont typeface="Arial"/>
                <a:buChar char="•"/>
              </a:pPr>
              <a:r>
                <a:rPr lang="en-US" sz="2400" b="true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Clear reasons behind every score — location and job status, not a black box.</a:t>
              </a:r>
            </a:p>
            <a:p>
              <a:pPr algn="l" marL="0" indent="0">
                <a:lnSpc>
                  <a:spcPts val="2600"/>
                </a:lnSpc>
                <a:spcBef>
                  <a:spcPct val="35000"/>
                </a:spcBef>
              </a:pPr>
              <a:r>
                <a:rPr lang="en-US" sz="1900" i="true">
                  <a:solidFill>
                    <a:srgbClr val="5A3CAD"/>
                  </a:solidFill>
                  <a:latin typeface="Sarabun"/>
                  <a:ea typeface="Sarabun"/>
                  <a:cs typeface="Sarabun"/>
                  <a:sym typeface="Sarabun"/>
                </a:rPr>
                <a:t>Next: pilot with real recruiters before full rollout.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B1001" id="1001"/>
          <p:cNvSpPr txBox="true"/>
          <p:nvPr/>
        </p:nvSpPr>
        <p:spPr>
          <a:xfrm rot="0">
            <a:off x="1028700" y="700000"/>
            <a:ext cx="12000000" cy="11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9"/>
              </a:lnSpc>
              <a:spcBef>
                <a:spcPct val="0"/>
              </a:spcBef>
            </a:pPr>
            <a:r>
              <a:rPr lang="en-US" b="true" sz="5400">
                <a:solidFill>
                  <a:srgbClr val="5A3CAD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Results — Model Comparison</a:t>
            </a:r>
          </a:p>
        </p:txBody>
      </p:sp>
      <p:sp>
        <p:nvSpPr>
          <p:cNvPr name="TB1002" id="1002"/>
          <p:cNvSpPr txBox="true"/>
          <p:nvPr/>
        </p:nvSpPr>
        <p:spPr>
          <a:xfrm rot="0">
            <a:off x="1028700" y="1750000"/>
            <a:ext cx="12000000" cy="5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Validation ROC-AUC across five candidate models</a:t>
            </a:r>
          </a:p>
        </p:txBody>
      </p:sp>
      <p:sp>
        <p:nvSpPr>
          <p:cNvPr name="R1003" id="1003"/>
          <p:cNvSpPr/>
          <p:nvPr/>
        </p:nvSpPr>
        <p:spPr>
          <a:xfrm rot="0">
            <a:off x="1500000" y="5024800"/>
            <a:ext cx="1500000" cy="3275200"/>
          </a:xfrm>
          <a:prstGeom prst="roundRect">
            <a:avLst>
              <a:gd name="adj" fmla="val 12000"/>
            </a:avLst>
          </a:prstGeom>
          <a:solidFill>
            <a:srgbClr val="70E6E3"/>
          </a:solidFill>
          <a:ln>
            <a:noFill/>
          </a:ln>
        </p:spPr>
      </p:sp>
      <p:sp>
        <p:nvSpPr>
          <p:cNvPr name="TB1004" id="1004"/>
          <p:cNvSpPr txBox="true"/>
          <p:nvPr/>
        </p:nvSpPr>
        <p:spPr>
          <a:xfrm rot="0">
            <a:off x="1400000" y="4544800"/>
            <a:ext cx="1700000" cy="4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>
                <a:solidFill>
                  <a:srgbClr val="5A3CAD"/>
                </a:solidFill>
                <a:latin typeface="Sarabun Bold"/>
                <a:ea typeface="Sarabun Bold"/>
                <a:cs typeface="Sarabun Bold"/>
                <a:sym typeface="Sarabun Bold"/>
              </a:rPr>
              <a:t>0.778</a:t>
            </a:r>
          </a:p>
        </p:txBody>
      </p:sp>
      <p:sp>
        <p:nvSpPr>
          <p:cNvPr name="TB1005" id="1005"/>
          <p:cNvSpPr txBox="true"/>
          <p:nvPr/>
        </p:nvSpPr>
        <p:spPr>
          <a:xfrm rot="0">
            <a:off x="1350000" y="8450000"/>
            <a:ext cx="1800000" cy="7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09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Sarabun Bold"/>
                <a:ea typeface="Sarabun Bold"/>
                <a:cs typeface="Sarabun Bold"/>
                <a:sym typeface="Sarabun Bold"/>
              </a:rPr>
              <a:t>Logistic Regression</a:t>
            </a:r>
          </a:p>
        </p:txBody>
      </p:sp>
      <p:sp>
        <p:nvSpPr>
          <p:cNvPr name="R1006" id="1006"/>
          <p:cNvSpPr/>
          <p:nvPr/>
        </p:nvSpPr>
        <p:spPr>
          <a:xfrm rot="0">
            <a:off x="3420000" y="5006400"/>
            <a:ext cx="1500000" cy="3293600"/>
          </a:xfrm>
          <a:prstGeom prst="roundRect">
            <a:avLst>
              <a:gd name="adj" fmla="val 12000"/>
            </a:avLst>
          </a:prstGeom>
          <a:solidFill>
            <a:srgbClr val="70E6E3"/>
          </a:solidFill>
          <a:ln>
            <a:noFill/>
          </a:ln>
        </p:spPr>
      </p:sp>
      <p:sp>
        <p:nvSpPr>
          <p:cNvPr name="TB1007" id="1007"/>
          <p:cNvSpPr txBox="true"/>
          <p:nvPr/>
        </p:nvSpPr>
        <p:spPr>
          <a:xfrm rot="0">
            <a:off x="3320000" y="4526400"/>
            <a:ext cx="1700000" cy="4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>
                <a:solidFill>
                  <a:srgbClr val="5A3CAD"/>
                </a:solidFill>
                <a:latin typeface="Sarabun Bold"/>
                <a:ea typeface="Sarabun Bold"/>
                <a:cs typeface="Sarabun Bold"/>
                <a:sym typeface="Sarabun Bold"/>
              </a:rPr>
              <a:t>0.779</a:t>
            </a:r>
          </a:p>
        </p:txBody>
      </p:sp>
      <p:sp>
        <p:nvSpPr>
          <p:cNvPr name="TB1008" id="1008"/>
          <p:cNvSpPr txBox="true"/>
          <p:nvPr/>
        </p:nvSpPr>
        <p:spPr>
          <a:xfrm rot="0">
            <a:off x="3270000" y="8450000"/>
            <a:ext cx="1800000" cy="7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09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Sarabun Bold"/>
                <a:ea typeface="Sarabun Bold"/>
                <a:cs typeface="Sarabun Bold"/>
                <a:sym typeface="Sarabun Bold"/>
              </a:rPr>
              <a:t>Random Forest</a:t>
            </a:r>
          </a:p>
        </p:txBody>
      </p:sp>
      <p:sp>
        <p:nvSpPr>
          <p:cNvPr name="R1009" id="1009"/>
          <p:cNvSpPr/>
          <p:nvPr/>
        </p:nvSpPr>
        <p:spPr>
          <a:xfrm rot="0">
            <a:off x="5340000" y="4344001"/>
            <a:ext cx="1500000" cy="3955999"/>
          </a:xfrm>
          <a:prstGeom prst="roundRect">
            <a:avLst>
              <a:gd name="adj" fmla="val 12000"/>
            </a:avLst>
          </a:prstGeom>
          <a:solidFill>
            <a:srgbClr val="5A3CAD"/>
          </a:solidFill>
          <a:ln>
            <a:noFill/>
          </a:ln>
        </p:spPr>
      </p:sp>
      <p:sp>
        <p:nvSpPr>
          <p:cNvPr name="TB1010" id="1010"/>
          <p:cNvSpPr txBox="true"/>
          <p:nvPr/>
        </p:nvSpPr>
        <p:spPr>
          <a:xfrm rot="0">
            <a:off x="5240000" y="3864001"/>
            <a:ext cx="1700000" cy="4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>
                <a:solidFill>
                  <a:srgbClr val="5A3CAD"/>
                </a:solidFill>
                <a:latin typeface="Sarabun Bold"/>
                <a:ea typeface="Sarabun Bold"/>
                <a:cs typeface="Sarabun Bold"/>
                <a:sym typeface="Sarabun Bold"/>
              </a:rPr>
              <a:t>0.815</a:t>
            </a:r>
          </a:p>
        </p:txBody>
      </p:sp>
      <p:sp>
        <p:nvSpPr>
          <p:cNvPr name="TB1011" id="1011"/>
          <p:cNvSpPr txBox="true"/>
          <p:nvPr/>
        </p:nvSpPr>
        <p:spPr>
          <a:xfrm rot="0">
            <a:off x="5190000" y="8450000"/>
            <a:ext cx="1800000" cy="7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09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Sarabun Bold"/>
                <a:ea typeface="Sarabun Bold"/>
                <a:cs typeface="Sarabun Bold"/>
                <a:sym typeface="Sarabun Bold"/>
              </a:rPr>
              <a:t>Gradient Boosting</a:t>
            </a:r>
          </a:p>
        </p:txBody>
      </p:sp>
      <p:sp>
        <p:nvSpPr>
          <p:cNvPr name="R1012" id="1012"/>
          <p:cNvSpPr/>
          <p:nvPr/>
        </p:nvSpPr>
        <p:spPr>
          <a:xfrm rot="0">
            <a:off x="7260000" y="4344001"/>
            <a:ext cx="1500000" cy="3955999"/>
          </a:xfrm>
          <a:prstGeom prst="roundRect">
            <a:avLst>
              <a:gd name="adj" fmla="val 12000"/>
            </a:avLst>
          </a:prstGeom>
          <a:solidFill>
            <a:srgbClr val="5A3CAD"/>
          </a:solidFill>
          <a:ln>
            <a:noFill/>
          </a:ln>
        </p:spPr>
      </p:sp>
      <p:sp>
        <p:nvSpPr>
          <p:cNvPr name="TB1013" id="1013"/>
          <p:cNvSpPr txBox="true"/>
          <p:nvPr/>
        </p:nvSpPr>
        <p:spPr>
          <a:xfrm rot="0">
            <a:off x="7160000" y="3864001"/>
            <a:ext cx="1700000" cy="4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>
                <a:solidFill>
                  <a:srgbClr val="5A3CAD"/>
                </a:solidFill>
                <a:latin typeface="Sarabun Bold"/>
                <a:ea typeface="Sarabun Bold"/>
                <a:cs typeface="Sarabun Bold"/>
                <a:sym typeface="Sarabun Bold"/>
              </a:rPr>
              <a:t>0.815</a:t>
            </a:r>
          </a:p>
        </p:txBody>
      </p:sp>
      <p:sp>
        <p:nvSpPr>
          <p:cNvPr name="TB1014" id="1014"/>
          <p:cNvSpPr txBox="true"/>
          <p:nvPr/>
        </p:nvSpPr>
        <p:spPr>
          <a:xfrm rot="0">
            <a:off x="7110000" y="8450000"/>
            <a:ext cx="1800000" cy="7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09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Sarabun Bold"/>
                <a:ea typeface="Sarabun Bold"/>
                <a:cs typeface="Sarabun Bold"/>
                <a:sym typeface="Sarabun Bold"/>
              </a:rPr>
              <a:t>XGBoost (default)</a:t>
            </a:r>
          </a:p>
        </p:txBody>
      </p:sp>
      <p:sp>
        <p:nvSpPr>
          <p:cNvPr name="R1015" id="1015"/>
          <p:cNvSpPr/>
          <p:nvPr/>
        </p:nvSpPr>
        <p:spPr>
          <a:xfrm rot="0">
            <a:off x="9180000" y="4362401"/>
            <a:ext cx="1500000" cy="3937599"/>
          </a:xfrm>
          <a:prstGeom prst="roundRect">
            <a:avLst>
              <a:gd name="adj" fmla="val 12000"/>
            </a:avLst>
          </a:prstGeom>
          <a:solidFill>
            <a:srgbClr val="E27EFF"/>
          </a:solidFill>
          <a:ln>
            <a:noFill/>
          </a:ln>
        </p:spPr>
      </p:sp>
      <p:sp>
        <p:nvSpPr>
          <p:cNvPr name="TB1016" id="1016"/>
          <p:cNvSpPr txBox="true"/>
          <p:nvPr/>
        </p:nvSpPr>
        <p:spPr>
          <a:xfrm rot="0">
            <a:off x="9080000" y="3882401"/>
            <a:ext cx="1700000" cy="4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>
                <a:solidFill>
                  <a:srgbClr val="5A3CAD"/>
                </a:solidFill>
                <a:latin typeface="Sarabun Bold"/>
                <a:ea typeface="Sarabun Bold"/>
                <a:cs typeface="Sarabun Bold"/>
                <a:sym typeface="Sarabun Bold"/>
              </a:rPr>
              <a:t>0.812</a:t>
            </a:r>
          </a:p>
        </p:txBody>
      </p:sp>
      <p:sp>
        <p:nvSpPr>
          <p:cNvPr name="TB1017" id="1017"/>
          <p:cNvSpPr txBox="true"/>
          <p:nvPr/>
        </p:nvSpPr>
        <p:spPr>
          <a:xfrm rot="0">
            <a:off x="9030000" y="8450000"/>
            <a:ext cx="1800000" cy="7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09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Sarabun Bold"/>
                <a:ea typeface="Sarabun Bold"/>
                <a:cs typeface="Sarabun Bold"/>
                <a:sym typeface="Sarabun Bold"/>
              </a:rPr>
              <a:t>XGBoost (tuned)</a:t>
            </a:r>
          </a:p>
        </p:txBody>
      </p:sp>
      <p:sp>
        <p:nvSpPr>
          <p:cNvPr name="R1018" id="1018"/>
          <p:cNvSpPr/>
          <p:nvPr/>
        </p:nvSpPr>
        <p:spPr>
          <a:xfrm rot="0">
            <a:off x="1300000" y="8300000"/>
            <a:ext cx="9700000" cy="22000"/>
          </a:xfrm>
          <a:prstGeom prst="rect">
            <a:avLst/>
          </a:prstGeom>
          <a:solidFill>
            <a:srgbClr val="D7D8D8"/>
          </a:solidFill>
          <a:ln>
            <a:noFill/>
          </a:ln>
        </p:spPr>
      </p:sp>
      <p:sp>
        <p:nvSpPr>
          <p:cNvPr name="R1019" id="1019"/>
          <p:cNvSpPr/>
          <p:nvPr/>
        </p:nvSpPr>
        <p:spPr>
          <a:xfrm rot="0">
            <a:off x="12300000" y="2200000"/>
            <a:ext cx="4950000" cy="6300000"/>
          </a:xfrm>
          <a:prstGeom prst="roundRect">
            <a:avLst>
              <a:gd name="adj" fmla="val 7000"/>
            </a:avLst>
          </a:prstGeom>
          <a:solidFill>
            <a:srgbClr val="5A3CAD"/>
          </a:solidFill>
          <a:ln>
            <a:noFill/>
          </a:ln>
        </p:spPr>
      </p:sp>
      <p:sp>
        <p:nvSpPr>
          <p:cNvPr name="TB1020" id="1020"/>
          <p:cNvSpPr txBox="true"/>
          <p:nvPr/>
        </p:nvSpPr>
        <p:spPr>
          <a:xfrm rot="0">
            <a:off x="12600000" y="2950000"/>
            <a:ext cx="4350000" cy="12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79.1%</a:t>
            </a:r>
          </a:p>
        </p:txBody>
      </p:sp>
      <p:sp>
        <p:nvSpPr>
          <p:cNvPr name="TB1021" id="1021"/>
          <p:cNvSpPr txBox="true"/>
          <p:nvPr/>
        </p:nvSpPr>
        <p:spPr>
          <a:xfrm rot="0">
            <a:off x="12600000" y="4150000"/>
            <a:ext cx="4350000" cy="7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4"/>
              </a:lnSpc>
              <a:spcBef>
                <a:spcPct val="0"/>
              </a:spcBef>
            </a:pPr>
            <a:r>
              <a:rPr lang="en-US" b="true" sz="1700">
                <a:solidFill>
                  <a:srgbClr val="D7D8D8"/>
                </a:solidFill>
                <a:latin typeface="Sarabun Bold"/>
                <a:ea typeface="Sarabun Bold"/>
                <a:cs typeface="Sarabun Bold"/>
                <a:sym typeface="Sarabun Bold"/>
              </a:rPr>
              <a:t>Validation Accuracy</a:t>
            </a:r>
          </a:p>
          <a:p>
            <a:pPr algn="ctr" marL="0" indent="0" lvl="0">
              <a:lnSpc>
                <a:spcPts val="1724"/>
              </a:lnSpc>
              <a:spcBef>
                <a:spcPct val="0"/>
              </a:spcBef>
            </a:pPr>
            <a:r>
              <a:rPr lang="en-US" sz="1500">
                <a:solidFill>
                  <a:srgbClr val="D7D8D8"/>
                </a:solidFill>
                <a:latin typeface="Sarabun"/>
                <a:ea typeface="Sarabun"/>
                <a:cs typeface="Sarabun"/>
                <a:sym typeface="Sarabun"/>
              </a:rPr>
              <a:t>(tuned XGBoost)</a:t>
            </a:r>
          </a:p>
        </p:txBody>
      </p:sp>
      <p:sp>
        <p:nvSpPr>
          <p:cNvPr name="TB1022" id="1022"/>
          <p:cNvSpPr txBox="true"/>
          <p:nvPr/>
        </p:nvSpPr>
        <p:spPr>
          <a:xfrm rot="0">
            <a:off x="12600000" y="5100000"/>
            <a:ext cx="4350000" cy="12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60"/>
              </a:lnSpc>
              <a:spcBef>
                <a:spcPct val="0"/>
              </a:spcBef>
            </a:pPr>
            <a:r>
              <a:rPr lang="en-US" b="true" sz="4400">
                <a:solidFill>
                  <a:srgbClr val="E27EFF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0.812</a:t>
            </a:r>
          </a:p>
        </p:txBody>
      </p:sp>
      <p:sp>
        <p:nvSpPr>
          <p:cNvPr name="TB1023" id="1023"/>
          <p:cNvSpPr txBox="true"/>
          <p:nvPr/>
        </p:nvSpPr>
        <p:spPr>
          <a:xfrm rot="0">
            <a:off x="12600000" y="6300000"/>
            <a:ext cx="4350000" cy="5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4"/>
              </a:lnSpc>
              <a:spcBef>
                <a:spcPct val="0"/>
              </a:spcBef>
            </a:pPr>
            <a:r>
              <a:rPr lang="en-US" b="true" sz="1700">
                <a:solidFill>
                  <a:srgbClr val="D7D8D8"/>
                </a:solidFill>
                <a:latin typeface="Sarabun Bold"/>
                <a:ea typeface="Sarabun Bold"/>
                <a:cs typeface="Sarabun Bold"/>
                <a:sym typeface="Sarabun Bold"/>
              </a:rPr>
              <a:t>ROC-AUC</a:t>
            </a:r>
          </a:p>
        </p:txBody>
      </p:sp>
      <p:sp>
        <p:nvSpPr>
          <p:cNvPr name="TB1024" id="1024"/>
          <p:cNvSpPr txBox="true"/>
          <p:nvPr/>
        </p:nvSpPr>
        <p:spPr>
          <a:xfrm rot="0">
            <a:off x="12600000" y="6900000"/>
            <a:ext cx="4350000" cy="12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60"/>
              </a:lnSpc>
              <a:spcBef>
                <a:spcPct val="0"/>
              </a:spcBef>
            </a:pPr>
            <a:r>
              <a:rPr lang="en-US" b="true" sz="4400">
                <a:solidFill>
                  <a:srgbClr val="70E6E3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55.6%</a:t>
            </a:r>
          </a:p>
        </p:txBody>
      </p:sp>
      <p:sp>
        <p:nvSpPr>
          <p:cNvPr name="TB1025" id="1025"/>
          <p:cNvSpPr txBox="true"/>
          <p:nvPr/>
        </p:nvSpPr>
        <p:spPr>
          <a:xfrm rot="0">
            <a:off x="12600000" y="8100000"/>
            <a:ext cx="4350000" cy="7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4"/>
              </a:lnSpc>
              <a:spcBef>
                <a:spcPct val="0"/>
              </a:spcBef>
            </a:pPr>
            <a:r>
              <a:rPr lang="en-US" b="true" sz="1700">
                <a:solidFill>
                  <a:srgbClr val="D7D8D8"/>
                </a:solidFill>
                <a:latin typeface="Sarabun Bold"/>
                <a:ea typeface="Sarabun Bold"/>
                <a:cs typeface="Sarabun Bold"/>
                <a:sym typeface="Sarabun Bold"/>
              </a:rPr>
              <a:t>Recall on job-changers</a:t>
            </a:r>
          </a:p>
        </p:txBody>
      </p:sp>
      <p:sp>
        <p:nvSpPr>
          <p:cNvPr name="Dot1026" id="1026"/>
          <p:cNvSpPr/>
          <p:nvPr/>
        </p:nvSpPr>
        <p:spPr>
          <a:xfrm>
            <a:off x="17000000" y="9500000"/>
            <a:ext cx="900000" cy="900000"/>
          </a:xfrm>
          <a:prstGeom prst="ellipse">
            <a:avLst/>
          </a:prstGeom>
          <a:solidFill>
            <a:srgbClr val="70E6E3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3C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73975" y="-1157644"/>
            <a:ext cx="29092321" cy="12182409"/>
          </a:xfrm>
          <a:custGeom>
            <a:avLst/>
            <a:gdLst/>
            <a:ahLst/>
            <a:cxnLst/>
            <a:rect r="r" b="b" t="t" l="l"/>
            <a:pathLst>
              <a:path h="12182409" w="29092321">
                <a:moveTo>
                  <a:pt x="0" y="0"/>
                </a:moveTo>
                <a:lnTo>
                  <a:pt x="29092321" y="0"/>
                </a:lnTo>
                <a:lnTo>
                  <a:pt x="29092321" y="12182409"/>
                </a:lnTo>
                <a:lnTo>
                  <a:pt x="0" y="12182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56832" y="-14557213"/>
            <a:ext cx="28562572" cy="27955617"/>
          </a:xfrm>
          <a:custGeom>
            <a:avLst/>
            <a:gdLst/>
            <a:ahLst/>
            <a:cxnLst/>
            <a:rect r="r" b="b" t="t" l="l"/>
            <a:pathLst>
              <a:path h="27955617" w="28562572">
                <a:moveTo>
                  <a:pt x="0" y="0"/>
                </a:moveTo>
                <a:lnTo>
                  <a:pt x="28562572" y="0"/>
                </a:lnTo>
                <a:lnTo>
                  <a:pt x="28562572" y="27955617"/>
                </a:lnTo>
                <a:lnTo>
                  <a:pt x="0" y="279556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02375" y="1476735"/>
            <a:ext cx="9285366" cy="3545708"/>
            <a:chOff x="0" y="0"/>
            <a:chExt cx="12380488" cy="472761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300000"/>
              <a:ext cx="11500000" cy="164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Smart Recruitment Assistant</a:t>
              </a:r>
            </a:p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Questions &amp; </a:t>
              </a:r>
              <a:r>
                <a:rPr lang="en-US" b="true" sz="3600" strike="noStrike" u="none">
                  <a:solidFill>
                    <a:srgbClr val="70E6E3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Discussion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12380488" cy="2799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840"/>
                </a:lnSpc>
                <a:spcBef>
                  <a:spcPct val="0"/>
                </a:spcBef>
              </a:pPr>
              <a:r>
                <a:rPr lang="en-US" b="true" sz="14400" strike="noStrike" u="none">
                  <a:solidFill>
                    <a:srgbClr val="FFFFFF"/>
                  </a:solidFill>
                  <a:latin typeface="Eastman Condensed Bold"/>
                  <a:ea typeface="Eastman Condensed Bold"/>
                  <a:cs typeface="Eastman Condensed Bold"/>
                  <a:sym typeface="Eastman Condensed Bold"/>
                </a:rPr>
                <a:t>Thank you!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06390" y="6648382"/>
            <a:ext cx="7711876" cy="771187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0E6E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  <p:transition spd="slow">
    <p:cover dir="ru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B2001" id="2001"/>
          <p:cNvSpPr txBox="true"/>
          <p:nvPr/>
        </p:nvSpPr>
        <p:spPr>
          <a:xfrm rot="0">
            <a:off x="1028700" y="700000"/>
            <a:ext cx="14000000" cy="11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400">
                <a:solidFill>
                  <a:srgbClr val="5A3CAD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Precision, Recall &amp; Key Predictors</a:t>
            </a:r>
          </a:p>
        </p:txBody>
      </p:sp>
      <p:sp>
        <p:nvSpPr>
          <p:cNvPr name="TB2002" id="2002"/>
          <p:cNvSpPr txBox="true"/>
          <p:nvPr/>
        </p:nvSpPr>
        <p:spPr>
          <a:xfrm rot="0">
            <a:off x="1028700" y="1800000"/>
            <a:ext cx="8500000" cy="5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0"/>
              </a:lnSpc>
              <a:spcBef>
                <a:spcPct val="0"/>
              </a:spcBef>
            </a:pPr>
            <a:r>
              <a:rPr lang="en-US" b="true" sz="2000">
                <a:solidFill>
                  <a:srgbClr val="5A3CAD"/>
                </a:solidFill>
                <a:latin typeface="Sarabun Bold"/>
                <a:ea typeface="Sarabun Bold"/>
                <a:cs typeface="Sarabun Bold"/>
                <a:sym typeface="Sarabun Bold"/>
              </a:rPr>
              <a:t>Tuned XGBoost — Classification Report</a:t>
            </a:r>
          </a:p>
        </p:txBody>
      </p:sp>
      <p:sp>
        <p:nvSpPr>
          <p:cNvPr name="R2003" id="2003"/>
          <p:cNvSpPr/>
          <p:nvPr/>
        </p:nvSpPr>
        <p:spPr>
          <a:xfrm rot="0">
            <a:off x="4628700" y="2350000"/>
            <a:ext cx="2450000" cy="700000"/>
          </a:xfrm>
          <a:prstGeom prst="rect">
            <a:avLst/>
          </a:prstGeom>
          <a:solidFill>
            <a:srgbClr val="5A3CAD"/>
          </a:solidFill>
          <a:ln>
            <a:noFill/>
          </a:ln>
        </p:spPr>
      </p:sp>
      <p:sp>
        <p:nvSpPr>
          <p:cNvPr name="TB2004" id="2004"/>
          <p:cNvSpPr txBox="true"/>
          <p:nvPr/>
        </p:nvSpPr>
        <p:spPr>
          <a:xfrm rot="0">
            <a:off x="4688700" y="2480000"/>
            <a:ext cx="2330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94"/>
              </a:lnSpc>
              <a:spcBef>
                <a:spcPct val="0"/>
              </a:spcBef>
            </a:pPr>
            <a:r>
              <a:rPr lang="en-US" b="true" sz="130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Pred: No change</a:t>
            </a:r>
          </a:p>
        </p:txBody>
      </p:sp>
      <p:sp>
        <p:nvSpPr>
          <p:cNvPr name="R2005" id="2005"/>
          <p:cNvSpPr/>
          <p:nvPr/>
        </p:nvSpPr>
        <p:spPr>
          <a:xfrm rot="0">
            <a:off x="7078700" y="2350000"/>
            <a:ext cx="2450000" cy="700000"/>
          </a:xfrm>
          <a:prstGeom prst="rect">
            <a:avLst/>
          </a:prstGeom>
          <a:solidFill>
            <a:srgbClr val="5A3CAD"/>
          </a:solidFill>
          <a:ln>
            <a:noFill/>
          </a:ln>
        </p:spPr>
      </p:sp>
      <p:sp>
        <p:nvSpPr>
          <p:cNvPr name="TB2006" id="2006"/>
          <p:cNvSpPr txBox="true"/>
          <p:nvPr/>
        </p:nvSpPr>
        <p:spPr>
          <a:xfrm rot="0">
            <a:off x="7138700" y="2480000"/>
            <a:ext cx="2330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94"/>
              </a:lnSpc>
              <a:spcBef>
                <a:spcPct val="0"/>
              </a:spcBef>
            </a:pPr>
            <a:r>
              <a:rPr lang="en-US" b="true" sz="130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Pred: Will change</a:t>
            </a:r>
          </a:p>
        </p:txBody>
      </p:sp>
      <p:sp>
        <p:nvSpPr>
          <p:cNvPr name="R2007" id="2007"/>
          <p:cNvSpPr/>
          <p:nvPr/>
        </p:nvSpPr>
        <p:spPr>
          <a:xfrm rot="0">
            <a:off x="1028700" y="3050000"/>
            <a:ext cx="3600000" cy="700000"/>
          </a:xfrm>
          <a:prstGeom prst="rect">
            <a:avLst/>
          </a:prstGeom>
          <a:solidFill>
            <a:srgbClr val="5A3CAD"/>
          </a:solidFill>
          <a:ln>
            <a:noFill/>
          </a:ln>
        </p:spPr>
      </p:sp>
      <p:sp>
        <p:nvSpPr>
          <p:cNvPr name="TB2008" id="2008"/>
          <p:cNvSpPr txBox="true"/>
          <p:nvPr/>
        </p:nvSpPr>
        <p:spPr>
          <a:xfrm rot="0">
            <a:off x="1088700" y="3150000"/>
            <a:ext cx="3480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2"/>
              </a:lnSpc>
              <a:spcBef>
                <a:spcPct val="0"/>
              </a:spcBef>
            </a:pPr>
            <a:r>
              <a:rPr lang="en-US" b="true" sz="115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Actual: No change (2,877)</a:t>
            </a:r>
          </a:p>
        </p:txBody>
      </p:sp>
      <p:sp>
        <p:nvSpPr>
          <p:cNvPr name="R2009" id="2009"/>
          <p:cNvSpPr/>
          <p:nvPr/>
        </p:nvSpPr>
        <p:spPr>
          <a:xfrm rot="0">
            <a:off x="4628700" y="3050000"/>
            <a:ext cx="2450000" cy="700000"/>
          </a:xfrm>
          <a:prstGeom prst="rect">
            <a:avLst/>
          </a:prstGeom>
          <a:solidFill>
            <a:srgbClr val="70E6E3"/>
          </a:solidFill>
          <a:ln>
            <a:noFill/>
          </a:ln>
        </p:spPr>
      </p:sp>
      <p:sp>
        <p:nvSpPr>
          <p:cNvPr name="TB2010" id="2010"/>
          <p:cNvSpPr txBox="true"/>
          <p:nvPr/>
        </p:nvSpPr>
        <p:spPr>
          <a:xfrm rot="0">
            <a:off x="4688700" y="3180000"/>
            <a:ext cx="2330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9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precision 0.86</a:t>
            </a:r>
          </a:p>
        </p:txBody>
      </p:sp>
      <p:sp>
        <p:nvSpPr>
          <p:cNvPr name="R2011" id="2011"/>
          <p:cNvSpPr/>
          <p:nvPr/>
        </p:nvSpPr>
        <p:spPr>
          <a:xfrm rot="0">
            <a:off x="7078700" y="3050000"/>
            <a:ext cx="2450000" cy="7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name="TB2012" id="2012"/>
          <p:cNvSpPr txBox="true"/>
          <p:nvPr/>
        </p:nvSpPr>
        <p:spPr>
          <a:xfrm rot="0">
            <a:off x="7138700" y="3180000"/>
            <a:ext cx="2330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9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recall 0.87</a:t>
            </a:r>
          </a:p>
        </p:txBody>
      </p:sp>
      <p:sp>
        <p:nvSpPr>
          <p:cNvPr name="R2013" id="2013"/>
          <p:cNvSpPr/>
          <p:nvPr/>
        </p:nvSpPr>
        <p:spPr>
          <a:xfrm rot="0">
            <a:off x="1028700" y="3750000"/>
            <a:ext cx="3600000" cy="700000"/>
          </a:xfrm>
          <a:prstGeom prst="rect">
            <a:avLst/>
          </a:prstGeom>
          <a:solidFill>
            <a:srgbClr val="5A3CAD"/>
          </a:solidFill>
          <a:ln>
            <a:noFill/>
          </a:ln>
        </p:spPr>
      </p:sp>
      <p:sp>
        <p:nvSpPr>
          <p:cNvPr name="TB2014" id="2014"/>
          <p:cNvSpPr txBox="true"/>
          <p:nvPr/>
        </p:nvSpPr>
        <p:spPr>
          <a:xfrm rot="0">
            <a:off x="1088700" y="3850000"/>
            <a:ext cx="3480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2"/>
              </a:lnSpc>
              <a:spcBef>
                <a:spcPct val="0"/>
              </a:spcBef>
            </a:pPr>
            <a:r>
              <a:rPr lang="en-US" b="true" sz="115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Actual: Will change (955)</a:t>
            </a:r>
          </a:p>
        </p:txBody>
      </p:sp>
      <p:sp>
        <p:nvSpPr>
          <p:cNvPr name="R2015" id="2015"/>
          <p:cNvSpPr/>
          <p:nvPr/>
        </p:nvSpPr>
        <p:spPr>
          <a:xfrm rot="0">
            <a:off x="4628700" y="3750000"/>
            <a:ext cx="2450000" cy="7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name="TB2016" id="2016"/>
          <p:cNvSpPr txBox="true"/>
          <p:nvPr/>
        </p:nvSpPr>
        <p:spPr>
          <a:xfrm rot="0">
            <a:off x="4688700" y="3880000"/>
            <a:ext cx="2330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9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recall 0.56</a:t>
            </a:r>
          </a:p>
        </p:txBody>
      </p:sp>
      <p:sp>
        <p:nvSpPr>
          <p:cNvPr name="R2017" id="2017"/>
          <p:cNvSpPr/>
          <p:nvPr/>
        </p:nvSpPr>
        <p:spPr>
          <a:xfrm rot="0">
            <a:off x="7078700" y="3750000"/>
            <a:ext cx="2450000" cy="700000"/>
          </a:xfrm>
          <a:prstGeom prst="rect">
            <a:avLst/>
          </a:prstGeom>
          <a:solidFill>
            <a:srgbClr val="E27EFF"/>
          </a:solidFill>
          <a:ln>
            <a:noFill/>
          </a:ln>
        </p:spPr>
      </p:sp>
      <p:sp>
        <p:nvSpPr>
          <p:cNvPr name="TB2018" id="2018"/>
          <p:cNvSpPr txBox="true"/>
          <p:nvPr/>
        </p:nvSpPr>
        <p:spPr>
          <a:xfrm rot="0">
            <a:off x="7138700" y="3880000"/>
            <a:ext cx="2330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9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precision 0.59</a:t>
            </a:r>
          </a:p>
        </p:txBody>
      </p:sp>
      <p:sp>
        <p:nvSpPr>
          <p:cNvPr name="TB2019" id="2019"/>
          <p:cNvSpPr txBox="true"/>
          <p:nvPr/>
        </p:nvSpPr>
        <p:spPr>
          <a:xfrm rot="0">
            <a:off x="1028700" y="4950000"/>
            <a:ext cx="8500000" cy="5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0"/>
              </a:lnSpc>
              <a:spcBef>
                <a:spcPct val="0"/>
              </a:spcBef>
            </a:pPr>
            <a:r>
              <a:rPr lang="en-US" b="true" sz="2000">
                <a:solidFill>
                  <a:srgbClr val="5A3CAD"/>
                </a:solidFill>
                <a:latin typeface="Sarabun Bold"/>
                <a:ea typeface="Sarabun Bold"/>
                <a:cs typeface="Sarabun Bold"/>
                <a:sym typeface="Sarabun Bold"/>
              </a:rPr>
              <a:t>Top predictive features (mutual information)</a:t>
            </a:r>
          </a:p>
        </p:txBody>
      </p:sp>
      <p:sp>
        <p:nvSpPr>
          <p:cNvPr name="TB2020" id="2020"/>
          <p:cNvSpPr txBox="true"/>
          <p:nvPr/>
        </p:nvSpPr>
        <p:spPr>
          <a:xfrm rot="0">
            <a:off x="1028700" y="5600000"/>
            <a:ext cx="3200000" cy="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city_development_index</a:t>
            </a:r>
          </a:p>
        </p:txBody>
      </p:sp>
      <p:sp>
        <p:nvSpPr>
          <p:cNvPr name="R2021" id="2021"/>
          <p:cNvSpPr/>
          <p:nvPr/>
        </p:nvSpPr>
        <p:spPr>
          <a:xfrm rot="0">
            <a:off x="4328700" y="5660000"/>
            <a:ext cx="4300000" cy="300000"/>
          </a:xfrm>
          <a:prstGeom prst="roundRect">
            <a:avLst>
              <a:gd name="adj" fmla="val 20000"/>
            </a:avLst>
          </a:prstGeom>
          <a:solidFill>
            <a:srgbClr val="70E6E3"/>
          </a:solidFill>
          <a:ln>
            <a:noFill/>
          </a:ln>
        </p:spPr>
      </p:sp>
      <p:sp>
        <p:nvSpPr>
          <p:cNvPr name="TB2022" id="2022"/>
          <p:cNvSpPr txBox="true"/>
          <p:nvPr/>
        </p:nvSpPr>
        <p:spPr>
          <a:xfrm rot="0">
            <a:off x="1028700" y="6120000"/>
            <a:ext cx="3200000" cy="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company_size</a:t>
            </a:r>
          </a:p>
        </p:txBody>
      </p:sp>
      <p:sp>
        <p:nvSpPr>
          <p:cNvPr name="R2023" id="2023"/>
          <p:cNvSpPr/>
          <p:nvPr/>
        </p:nvSpPr>
        <p:spPr>
          <a:xfrm rot="0">
            <a:off x="4328700" y="6180000"/>
            <a:ext cx="2080216" cy="300000"/>
          </a:xfrm>
          <a:prstGeom prst="roundRect">
            <a:avLst>
              <a:gd name="adj" fmla="val 20000"/>
            </a:avLst>
          </a:prstGeom>
          <a:solidFill>
            <a:srgbClr val="E27EFF"/>
          </a:solidFill>
          <a:ln>
            <a:noFill/>
          </a:ln>
        </p:spPr>
      </p:sp>
      <p:sp>
        <p:nvSpPr>
          <p:cNvPr name="TB2024" id="2024"/>
          <p:cNvSpPr txBox="true"/>
          <p:nvPr/>
        </p:nvSpPr>
        <p:spPr>
          <a:xfrm rot="0">
            <a:off x="1028700" y="6640000"/>
            <a:ext cx="3200000" cy="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company_type_Unknown</a:t>
            </a:r>
          </a:p>
        </p:txBody>
      </p:sp>
      <p:sp>
        <p:nvSpPr>
          <p:cNvPr name="R2025" id="2025"/>
          <p:cNvSpPr/>
          <p:nvPr/>
        </p:nvSpPr>
        <p:spPr>
          <a:xfrm rot="0">
            <a:off x="4328700" y="6700000"/>
            <a:ext cx="1581761" cy="300000"/>
          </a:xfrm>
          <a:prstGeom prst="roundRect">
            <a:avLst>
              <a:gd name="adj" fmla="val 20000"/>
            </a:avLst>
          </a:prstGeom>
          <a:solidFill>
            <a:srgbClr val="5A3CAD"/>
          </a:solidFill>
          <a:ln>
            <a:noFill/>
          </a:ln>
        </p:spPr>
      </p:sp>
      <p:sp>
        <p:nvSpPr>
          <p:cNvPr name="TB2026" id="2026"/>
          <p:cNvSpPr txBox="true"/>
          <p:nvPr/>
        </p:nvSpPr>
        <p:spPr>
          <a:xfrm rot="0">
            <a:off x="1028700" y="7160000"/>
            <a:ext cx="3200000" cy="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high_experience</a:t>
            </a:r>
          </a:p>
        </p:txBody>
      </p:sp>
      <p:sp>
        <p:nvSpPr>
          <p:cNvPr name="R2027" id="2027"/>
          <p:cNvSpPr/>
          <p:nvPr/>
        </p:nvSpPr>
        <p:spPr>
          <a:xfrm rot="0">
            <a:off x="4328700" y="7220000"/>
            <a:ext cx="1315919" cy="300000"/>
          </a:xfrm>
          <a:prstGeom prst="roundRect">
            <a:avLst>
              <a:gd name="adj" fmla="val 20000"/>
            </a:avLst>
          </a:prstGeom>
          <a:solidFill>
            <a:srgbClr val="70E6E3"/>
          </a:solidFill>
          <a:ln>
            <a:noFill/>
          </a:ln>
        </p:spPr>
      </p:sp>
      <p:sp>
        <p:nvSpPr>
          <p:cNvPr name="TB2028" id="2028"/>
          <p:cNvSpPr txBox="true"/>
          <p:nvPr/>
        </p:nvSpPr>
        <p:spPr>
          <a:xfrm rot="0">
            <a:off x="1028700" y="7680000"/>
            <a:ext cx="3200000" cy="4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job_stability</a:t>
            </a:r>
          </a:p>
        </p:txBody>
      </p:sp>
      <p:sp>
        <p:nvSpPr>
          <p:cNvPr name="R2029" id="2029"/>
          <p:cNvSpPr/>
          <p:nvPr/>
        </p:nvSpPr>
        <p:spPr>
          <a:xfrm rot="0">
            <a:off x="4328700" y="7740000"/>
            <a:ext cx="1123183" cy="300000"/>
          </a:xfrm>
          <a:prstGeom prst="roundRect">
            <a:avLst>
              <a:gd name="adj" fmla="val 20000"/>
            </a:avLst>
          </a:prstGeom>
          <a:solidFill>
            <a:srgbClr val="E27EFF"/>
          </a:solidFill>
          <a:ln>
            <a:noFill/>
          </a:ln>
        </p:spPr>
      </p:sp>
      <p:sp>
        <p:nvSpPr>
          <p:cNvPr name="R2030" id="2030"/>
          <p:cNvSpPr/>
          <p:nvPr/>
        </p:nvSpPr>
        <p:spPr>
          <a:xfrm rot="0">
            <a:off x="12400000" y="2350000"/>
            <a:ext cx="4850000" cy="185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name="TB2031" id="2031"/>
          <p:cNvSpPr txBox="true"/>
          <p:nvPr/>
        </p:nvSpPr>
        <p:spPr>
          <a:xfrm rot="0">
            <a:off x="12600000" y="2600000"/>
            <a:ext cx="4450000" cy="8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600">
                <a:solidFill>
                  <a:srgbClr val="70E6E3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86%</a:t>
            </a:r>
          </a:p>
        </p:txBody>
      </p:sp>
      <p:sp>
        <p:nvSpPr>
          <p:cNvPr name="TB2032" id="2032"/>
          <p:cNvSpPr txBox="true"/>
          <p:nvPr/>
        </p:nvSpPr>
        <p:spPr>
          <a:xfrm rot="0">
            <a:off x="12700000" y="3500000"/>
            <a:ext cx="4250000" cy="6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7"/>
              </a:lnSpc>
              <a:spcBef>
                <a:spcPct val="0"/>
              </a:spcBef>
            </a:pPr>
            <a:r>
              <a:rPr lang="en-US" sz="125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Precision identifying candidates NOT looking to change jobs</a:t>
            </a:r>
          </a:p>
        </p:txBody>
      </p:sp>
      <p:sp>
        <p:nvSpPr>
          <p:cNvPr name="R2033" id="2033"/>
          <p:cNvSpPr/>
          <p:nvPr/>
        </p:nvSpPr>
        <p:spPr>
          <a:xfrm rot="0">
            <a:off x="12400000" y="4400000"/>
            <a:ext cx="4850000" cy="1850000"/>
          </a:xfrm>
          <a:prstGeom prst="roundRect">
            <a:avLst>
              <a:gd name="adj" fmla="val 8000"/>
            </a:avLst>
          </a:prstGeom>
          <a:solidFill>
            <a:srgbClr val="5A3CAD"/>
          </a:solidFill>
          <a:ln>
            <a:noFill/>
          </a:ln>
        </p:spPr>
      </p:sp>
      <p:sp>
        <p:nvSpPr>
          <p:cNvPr name="TB2034" id="2034"/>
          <p:cNvSpPr txBox="true"/>
          <p:nvPr/>
        </p:nvSpPr>
        <p:spPr>
          <a:xfrm rot="0">
            <a:off x="12600000" y="4650000"/>
            <a:ext cx="4450000" cy="8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56%</a:t>
            </a:r>
          </a:p>
        </p:txBody>
      </p:sp>
      <p:sp>
        <p:nvSpPr>
          <p:cNvPr name="TB2035" id="2035"/>
          <p:cNvSpPr txBox="true"/>
          <p:nvPr/>
        </p:nvSpPr>
        <p:spPr>
          <a:xfrm rot="0">
            <a:off x="12700000" y="5550000"/>
            <a:ext cx="4250000" cy="6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7"/>
              </a:lnSpc>
              <a:spcBef>
                <a:spcPct val="0"/>
              </a:spcBef>
            </a:pPr>
            <a:r>
              <a:rPr lang="en-US" sz="125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Recall catching real job-changers on the validation set</a:t>
            </a:r>
          </a:p>
        </p:txBody>
      </p:sp>
      <p:sp>
        <p:nvSpPr>
          <p:cNvPr name="R2036" id="2036"/>
          <p:cNvSpPr/>
          <p:nvPr/>
        </p:nvSpPr>
        <p:spPr>
          <a:xfrm rot="0">
            <a:off x="12400000" y="6450000"/>
            <a:ext cx="4850000" cy="185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name="TB2037" id="2037"/>
          <p:cNvSpPr txBox="true"/>
          <p:nvPr/>
        </p:nvSpPr>
        <p:spPr>
          <a:xfrm rot="0">
            <a:off x="12600000" y="6700000"/>
            <a:ext cx="4450000" cy="8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600">
                <a:solidFill>
                  <a:srgbClr val="E27EFF"/>
                </a:solidFill>
                <a:latin typeface="Eastman Condensed Bold"/>
                <a:ea typeface="Eastman Condensed Bold"/>
                <a:cs typeface="Eastman Condensed Bold"/>
                <a:sym typeface="Eastman Condensed Bold"/>
              </a:rPr>
              <a:t>0.812</a:t>
            </a:r>
          </a:p>
        </p:txBody>
      </p:sp>
      <p:sp>
        <p:nvSpPr>
          <p:cNvPr name="TB2038" id="2038"/>
          <p:cNvSpPr txBox="true"/>
          <p:nvPr/>
        </p:nvSpPr>
        <p:spPr>
          <a:xfrm rot="0">
            <a:off x="12700000" y="7600000"/>
            <a:ext cx="4250000" cy="6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7"/>
              </a:lnSpc>
              <a:spcBef>
                <a:spcPct val="0"/>
              </a:spcBef>
            </a:pPr>
            <a:r>
              <a:rPr lang="en-US" sz="125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ROC-AUC on the held-out validation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DAHUj3BJPc4</dc:identifier>
  <dcterms:modified xsi:type="dcterms:W3CDTF">2011-08-01T06:04:30Z</dcterms:modified>
  <cp:revision>1</cp:revision>
  <dc:title>Intro to Hiring for Recruiters Presentation</dc:title>
</cp:coreProperties>
</file>